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One line: the hospital has no way for a patient to book online today. This is that, plus the screen reception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business case.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Reception is the one Dad will care about — it is the hospital cost that actually goes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every extra step here is a patient who gives up. That is why there is no sign-up.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refuses it" is worth saying out loud — it is why double-booking cannot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Dad remembers one slide, make it this one. Use the shopfront / counter / diary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slowly. It is the slide that makes the previous one make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line matters to an owner: no per-doctor licence,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"so where is it?" — the program is finished, it needs somewhere to live, and that costs about a phone bill. Not "it is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he asks "is this safe" — this is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earns trust with a doctor. Restraint, not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right column. It is what makes the left column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is a separate paid piece of work. Say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Ask for the two things only the hospital can give: the registration numbers, and a decision on hosting.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B26"/>
        </a:solidFill>
      </p:bgPr>
    </p:bg>
    <p:spTree>
      <p:nvGrpSpPr>
        <p:cNvPr id="1" name=""/>
        <p:cNvGrpSpPr/>
        <p:nvPr/>
      </p:nvGrpSpPr>
      <p:grpSpPr>
        <a:xfrm>
          <a:off x="0" y="0"/>
          <a:ext cx="0" cy="0"/>
          <a:chOff x="0" y="0"/>
          <a:chExt cx="0" cy="0"/>
        </a:xfrm>
      </p:grpSpPr>
      <p:sp>
        <p:nvSpPr>
          <p:cNvPr id="2" name="Text 0"/>
          <p:cNvSpPr/>
          <p:nvPr/>
        </p:nvSpPr>
        <p:spPr>
          <a:xfrm>
            <a:off x="685800" y="1737360"/>
            <a:ext cx="7680960" cy="2194560"/>
          </a:xfrm>
          <a:prstGeom prst="rect">
            <a:avLst/>
          </a:prstGeom>
          <a:noFill/>
          <a:ln/>
        </p:spPr>
        <p:txBody>
          <a:bodyPr wrap="square" lIns="0" tIns="0" rIns="0" bIns="0" rtlCol="0" anchor="ctr"/>
          <a:lstStyle/>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Deepan Hospital,</a:t>
            </a:r>
            <a:endParaRPr lang="en-US" sz="5400" dirty="0"/>
          </a:p>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online</a:t>
            </a:r>
            <a:endParaRPr lang="en-US" sz="5400" dirty="0"/>
          </a:p>
        </p:txBody>
      </p:sp>
      <p:sp>
        <p:nvSpPr>
          <p:cNvPr id="3" name="Text 1"/>
          <p:cNvSpPr/>
          <p:nvPr/>
        </p:nvSpPr>
        <p:spPr>
          <a:xfrm>
            <a:off x="685800" y="4069080"/>
            <a:ext cx="7680960" cy="457200"/>
          </a:xfrm>
          <a:prstGeom prst="rect">
            <a:avLst/>
          </a:prstGeom>
          <a:noFill/>
          <a:ln/>
        </p:spPr>
        <p:txBody>
          <a:bodyPr wrap="square" lIns="0" tIns="0" rIns="0" bIns="0" rtlCol="0" anchor="ctr"/>
          <a:lstStyle/>
          <a:p>
            <a:pPr indent="0" marL="0">
              <a:buNone/>
            </a:pPr>
            <a:r>
              <a:rPr lang="en-US" sz="1900" dirty="0">
                <a:solidFill>
                  <a:srgbClr val="72B7AB"/>
                </a:solidFill>
                <a:latin typeface="Calibri" pitchFamily="34" charset="0"/>
                <a:ea typeface="Calibri" pitchFamily="34" charset="-122"/>
                <a:cs typeface="Calibri" pitchFamily="34" charset="-120"/>
              </a:rPr>
              <a:t>What I have built, who it is for, and how it works.</a:t>
            </a:r>
            <a:endParaRPr lang="en-US" sz="1900" dirty="0"/>
          </a:p>
        </p:txBody>
      </p:sp>
      <p:sp>
        <p:nvSpPr>
          <p:cNvPr id="4" name="Text 2"/>
          <p:cNvSpPr/>
          <p:nvPr/>
        </p:nvSpPr>
        <p:spPr>
          <a:xfrm>
            <a:off x="685800" y="4572000"/>
            <a:ext cx="7680960" cy="365760"/>
          </a:xfrm>
          <a:prstGeom prst="rect">
            <a:avLst/>
          </a:prstGeom>
          <a:noFill/>
          <a:ln/>
        </p:spPr>
        <p:txBody>
          <a:bodyPr wrap="square" lIns="0" tIns="0" rIns="0" bIns="0" rtlCol="0" anchor="ctr"/>
          <a:lstStyle/>
          <a:p>
            <a:pPr indent="0" marL="0">
              <a:buNone/>
            </a:pPr>
            <a:r>
              <a:rPr lang="en-US" sz="1500" dirty="0">
                <a:solidFill>
                  <a:srgbClr val="9FB8B2"/>
                </a:solidFill>
                <a:latin typeface="Calibri" pitchFamily="34" charset="0"/>
                <a:ea typeface="Calibri" pitchFamily="34" charset="-122"/>
                <a:cs typeface="Calibri" pitchFamily="34" charset="-120"/>
              </a:rPr>
              <a:t>A booking page for patients, and a reception screen behind it.</a:t>
            </a:r>
            <a:endParaRPr lang="en-US" sz="1500" dirty="0"/>
          </a:p>
        </p:txBody>
      </p:sp>
      <p:sp>
        <p:nvSpPr>
          <p:cNvPr id="5" name="Text 3"/>
          <p:cNvSpPr/>
          <p:nvPr/>
        </p:nvSpPr>
        <p:spPr>
          <a:xfrm>
            <a:off x="8732520" y="1783080"/>
            <a:ext cx="1371600" cy="640080"/>
          </a:xfrm>
          <a:prstGeom prst="rect">
            <a:avLst/>
          </a:prstGeom>
          <a:noFill/>
          <a:ln/>
        </p:spPr>
        <p:txBody>
          <a:bodyPr wrap="square" lIns="0" tIns="0" rIns="0" bIns="0" rtlCol="0" anchor="ctr"/>
          <a:lstStyle/>
          <a:p>
            <a:pPr indent="0" marL="0">
              <a:buNone/>
            </a:pPr>
            <a:r>
              <a:rPr lang="en-US" sz="4000" b="1" dirty="0">
                <a:solidFill>
                  <a:srgbClr val="A6CE39"/>
                </a:solidFill>
                <a:latin typeface="Cambria" pitchFamily="34" charset="0"/>
                <a:ea typeface="Cambria" pitchFamily="34" charset="-122"/>
                <a:cs typeface="Cambria" pitchFamily="34" charset="-120"/>
              </a:rPr>
              <a:t>18</a:t>
            </a:r>
            <a:endParaRPr lang="en-US" sz="4000" dirty="0"/>
          </a:p>
        </p:txBody>
      </p:sp>
      <p:sp>
        <p:nvSpPr>
          <p:cNvPr id="6" name="Text 4"/>
          <p:cNvSpPr/>
          <p:nvPr/>
        </p:nvSpPr>
        <p:spPr>
          <a:xfrm>
            <a:off x="9966960" y="2002536"/>
            <a:ext cx="1920240" cy="365760"/>
          </a:xfrm>
          <a:prstGeom prst="rect">
            <a:avLst/>
          </a:prstGeom>
          <a:noFill/>
          <a:ln/>
        </p:spPr>
        <p:txBody>
          <a:bodyPr wrap="square" lIns="0" tIns="0" rIns="0" bIns="0" rtlCol="0" anchor="ctr"/>
          <a:lstStyle/>
          <a:p>
            <a:pPr indent="0" marL="0">
              <a:buNone/>
            </a:pPr>
            <a:r>
              <a:rPr lang="en-US" sz="1400" dirty="0">
                <a:solidFill>
                  <a:srgbClr val="72B7AB"/>
                </a:solidFill>
                <a:latin typeface="Calibri" pitchFamily="34" charset="0"/>
                <a:ea typeface="Calibri" pitchFamily="34" charset="-122"/>
                <a:cs typeface="Calibri" pitchFamily="34" charset="-120"/>
              </a:rPr>
              <a:t>consultants</a:t>
            </a:r>
            <a:endParaRPr lang="en-US" sz="1400" dirty="0"/>
          </a:p>
        </p:txBody>
      </p:sp>
      <p:sp>
        <p:nvSpPr>
          <p:cNvPr id="7" name="Text 5"/>
          <p:cNvSpPr/>
          <p:nvPr/>
        </p:nvSpPr>
        <p:spPr>
          <a:xfrm>
            <a:off x="8732520" y="2834640"/>
            <a:ext cx="1371600" cy="640080"/>
          </a:xfrm>
          <a:prstGeom prst="rect">
            <a:avLst/>
          </a:prstGeom>
          <a:noFill/>
          <a:ln/>
        </p:spPr>
        <p:txBody>
          <a:bodyPr wrap="square" lIns="0" tIns="0" rIns="0" bIns="0" rtlCol="0" anchor="ctr"/>
          <a:lstStyle/>
          <a:p>
            <a:pPr indent="0" marL="0">
              <a:buNone/>
            </a:pPr>
            <a:r>
              <a:rPr lang="en-US" sz="4000" b="1" dirty="0">
                <a:solidFill>
                  <a:srgbClr val="A6CE39"/>
                </a:solidFill>
                <a:latin typeface="Cambria" pitchFamily="34" charset="0"/>
                <a:ea typeface="Cambria" pitchFamily="34" charset="-122"/>
                <a:cs typeface="Cambria" pitchFamily="34" charset="-120"/>
              </a:rPr>
              <a:t>21</a:t>
            </a:r>
            <a:endParaRPr lang="en-US" sz="4000" dirty="0"/>
          </a:p>
        </p:txBody>
      </p:sp>
      <p:sp>
        <p:nvSpPr>
          <p:cNvPr id="8" name="Text 6"/>
          <p:cNvSpPr/>
          <p:nvPr/>
        </p:nvSpPr>
        <p:spPr>
          <a:xfrm>
            <a:off x="9966960" y="3054096"/>
            <a:ext cx="1920240" cy="365760"/>
          </a:xfrm>
          <a:prstGeom prst="rect">
            <a:avLst/>
          </a:prstGeom>
          <a:noFill/>
          <a:ln/>
        </p:spPr>
        <p:txBody>
          <a:bodyPr wrap="square" lIns="0" tIns="0" rIns="0" bIns="0" rtlCol="0" anchor="ctr"/>
          <a:lstStyle/>
          <a:p>
            <a:pPr indent="0" marL="0">
              <a:buNone/>
            </a:pPr>
            <a:r>
              <a:rPr lang="en-US" sz="1400" dirty="0">
                <a:solidFill>
                  <a:srgbClr val="72B7AB"/>
                </a:solidFill>
                <a:latin typeface="Calibri" pitchFamily="34" charset="0"/>
                <a:ea typeface="Calibri" pitchFamily="34" charset="-122"/>
                <a:cs typeface="Calibri" pitchFamily="34" charset="-120"/>
              </a:rPr>
              <a:t>departments</a:t>
            </a:r>
            <a:endParaRPr lang="en-US" sz="1400" dirty="0"/>
          </a:p>
        </p:txBody>
      </p:sp>
      <p:sp>
        <p:nvSpPr>
          <p:cNvPr id="9" name="Text 7"/>
          <p:cNvSpPr/>
          <p:nvPr/>
        </p:nvSpPr>
        <p:spPr>
          <a:xfrm>
            <a:off x="8732520" y="3886200"/>
            <a:ext cx="1371600" cy="640080"/>
          </a:xfrm>
          <a:prstGeom prst="rect">
            <a:avLst/>
          </a:prstGeom>
          <a:noFill/>
          <a:ln/>
        </p:spPr>
        <p:txBody>
          <a:bodyPr wrap="square" lIns="0" tIns="0" rIns="0" bIns="0" rtlCol="0" anchor="ctr"/>
          <a:lstStyle/>
          <a:p>
            <a:pPr indent="0" marL="0">
              <a:buNone/>
            </a:pPr>
            <a:r>
              <a:rPr lang="en-US" sz="4000" b="1" dirty="0">
                <a:solidFill>
                  <a:srgbClr val="A6CE39"/>
                </a:solidFill>
                <a:latin typeface="Cambria" pitchFamily="34" charset="0"/>
                <a:ea typeface="Cambria" pitchFamily="34" charset="-122"/>
                <a:cs typeface="Cambria" pitchFamily="34" charset="-120"/>
              </a:rPr>
              <a:t>3</a:t>
            </a:r>
            <a:endParaRPr lang="en-US" sz="4000" dirty="0"/>
          </a:p>
        </p:txBody>
      </p:sp>
      <p:sp>
        <p:nvSpPr>
          <p:cNvPr id="10" name="Text 8"/>
          <p:cNvSpPr/>
          <p:nvPr/>
        </p:nvSpPr>
        <p:spPr>
          <a:xfrm>
            <a:off x="9966960" y="4105656"/>
            <a:ext cx="1920240" cy="365760"/>
          </a:xfrm>
          <a:prstGeom prst="rect">
            <a:avLst/>
          </a:prstGeom>
          <a:noFill/>
          <a:ln/>
        </p:spPr>
        <p:txBody>
          <a:bodyPr wrap="square" lIns="0" tIns="0" rIns="0" bIns="0" rtlCol="0" anchor="ctr"/>
          <a:lstStyle/>
          <a:p>
            <a:pPr indent="0" marL="0">
              <a:buNone/>
            </a:pPr>
            <a:r>
              <a:rPr lang="en-US" sz="1400" dirty="0">
                <a:solidFill>
                  <a:srgbClr val="72B7AB"/>
                </a:solidFill>
                <a:latin typeface="Calibri" pitchFamily="34" charset="0"/>
                <a:ea typeface="Calibri" pitchFamily="34" charset="-122"/>
                <a:cs typeface="Calibri" pitchFamily="34" charset="-120"/>
              </a:rPr>
              <a:t>languages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Right now there is only one way in</a:t>
            </a:r>
            <a:endParaRPr lang="en-US" sz="3400" dirty="0"/>
          </a:p>
        </p:txBody>
      </p:sp>
      <p:sp>
        <p:nvSpPr>
          <p:cNvPr id="4" name="Text 2"/>
          <p:cNvSpPr/>
          <p:nvPr/>
        </p:nvSpPr>
        <p:spPr>
          <a:xfrm>
            <a:off x="685800" y="1572768"/>
            <a:ext cx="6492240" cy="1143000"/>
          </a:xfrm>
          <a:prstGeom prst="rect">
            <a:avLst/>
          </a:prstGeom>
          <a:noFill/>
          <a:ln/>
        </p:spPr>
        <p:txBody>
          <a:bodyPr wrap="square" lIns="0" tIns="0" rIns="0" bIns="0" rtlCol="0" anchor="ctr"/>
          <a:lstStyle/>
          <a:p>
            <a:pPr indent="0" marL="0">
              <a:lnSpc>
                <a:spcPts val="2600"/>
              </a:lnSpc>
              <a:buNone/>
            </a:pPr>
            <a:r>
              <a:rPr lang="en-US" sz="1600" dirty="0">
                <a:solidFill>
                  <a:srgbClr val="403B33"/>
                </a:solidFill>
                <a:latin typeface="Calibri" pitchFamily="34" charset="0"/>
                <a:ea typeface="Calibri" pitchFamily="34" charset="-122"/>
                <a:cs typeface="Calibri" pitchFamily="34" charset="-120"/>
              </a:rPr>
              <a:t>To get an appointment at Deepan Hospital today, a patient has to telephone, during working hours, and speak to somebody at the counter. There is no other way.</a:t>
            </a:r>
            <a:endParaRPr lang="en-US" sz="1600" dirty="0"/>
          </a:p>
        </p:txBody>
      </p:sp>
      <p:sp>
        <p:nvSpPr>
          <p:cNvPr id="5" name="Shape 3"/>
          <p:cNvSpPr/>
          <p:nvPr/>
        </p:nvSpPr>
        <p:spPr>
          <a:xfrm>
            <a:off x="685800" y="2788920"/>
            <a:ext cx="6492240" cy="868680"/>
          </a:xfrm>
          <a:prstGeom prst="roundRect">
            <a:avLst>
              <a:gd name="adj" fmla="val 6316"/>
            </a:avLst>
          </a:prstGeom>
          <a:solidFill>
            <a:srgbClr val="F4F2EC"/>
          </a:solidFill>
          <a:ln w="12700">
            <a:solidFill>
              <a:srgbClr val="E7E3D9"/>
            </a:solidFill>
            <a:prstDash val="solid"/>
          </a:ln>
        </p:spPr>
      </p:sp>
      <p:sp>
        <p:nvSpPr>
          <p:cNvPr id="6" name="Text 4"/>
          <p:cNvSpPr/>
          <p:nvPr/>
        </p:nvSpPr>
        <p:spPr>
          <a:xfrm>
            <a:off x="941832" y="2898648"/>
            <a:ext cx="2011680" cy="320040"/>
          </a:xfrm>
          <a:prstGeom prst="rect">
            <a:avLst/>
          </a:prstGeom>
          <a:noFill/>
          <a:ln/>
        </p:spPr>
        <p:txBody>
          <a:bodyPr wrap="square" lIns="0" tIns="0" rIns="0" bIns="0" rtlCol="0" anchor="ctr"/>
          <a:lstStyle/>
          <a:p>
            <a:pPr indent="0" marL="0">
              <a:buNone/>
            </a:pPr>
            <a:r>
              <a:rPr lang="en-US" sz="1500" b="1" dirty="0">
                <a:solidFill>
                  <a:srgbClr val="0E6A5C"/>
                </a:solidFill>
                <a:latin typeface="Calibri" pitchFamily="34" charset="0"/>
                <a:ea typeface="Calibri" pitchFamily="34" charset="-122"/>
                <a:cs typeface="Calibri" pitchFamily="34" charset="-120"/>
              </a:rPr>
              <a:t>8am – 8pm</a:t>
            </a:r>
            <a:endParaRPr lang="en-US" sz="1500" dirty="0"/>
          </a:p>
        </p:txBody>
      </p:sp>
      <p:sp>
        <p:nvSpPr>
          <p:cNvPr id="7" name="Text 5"/>
          <p:cNvSpPr/>
          <p:nvPr/>
        </p:nvSpPr>
        <p:spPr>
          <a:xfrm>
            <a:off x="2971800" y="2916936"/>
            <a:ext cx="4023360" cy="640080"/>
          </a:xfrm>
          <a:prstGeom prst="rect">
            <a:avLst/>
          </a:prstGeom>
          <a:noFill/>
          <a:ln/>
        </p:spPr>
        <p:txBody>
          <a:bodyPr wrap="square" lIns="0" tIns="0" rIns="0" bIns="0" rtlCol="0" anchor="ctr"/>
          <a:lstStyle/>
          <a:p>
            <a:pPr indent="0" marL="0">
              <a:buNone/>
            </a:pPr>
            <a:r>
              <a:rPr lang="en-US" sz="1300" dirty="0">
                <a:solidFill>
                  <a:srgbClr val="403B33"/>
                </a:solidFill>
                <a:latin typeface="Calibri" pitchFamily="34" charset="0"/>
                <a:ea typeface="Calibri" pitchFamily="34" charset="-122"/>
                <a:cs typeface="Calibri" pitchFamily="34" charset="-120"/>
              </a:rPr>
              <a:t>The counter is not open at night or on Sunday afternoon.</a:t>
            </a:r>
            <a:endParaRPr lang="en-US" sz="1300" dirty="0"/>
          </a:p>
        </p:txBody>
      </p:sp>
      <p:sp>
        <p:nvSpPr>
          <p:cNvPr id="8" name="Shape 6"/>
          <p:cNvSpPr/>
          <p:nvPr/>
        </p:nvSpPr>
        <p:spPr>
          <a:xfrm>
            <a:off x="685800" y="3813048"/>
            <a:ext cx="6492240" cy="868680"/>
          </a:xfrm>
          <a:prstGeom prst="roundRect">
            <a:avLst>
              <a:gd name="adj" fmla="val 6316"/>
            </a:avLst>
          </a:prstGeom>
          <a:solidFill>
            <a:srgbClr val="F4F2EC"/>
          </a:solidFill>
          <a:ln w="12700">
            <a:solidFill>
              <a:srgbClr val="E7E3D9"/>
            </a:solidFill>
            <a:prstDash val="solid"/>
          </a:ln>
        </p:spPr>
      </p:sp>
      <p:sp>
        <p:nvSpPr>
          <p:cNvPr id="9" name="Text 7"/>
          <p:cNvSpPr/>
          <p:nvPr/>
        </p:nvSpPr>
        <p:spPr>
          <a:xfrm>
            <a:off x="941832" y="3922776"/>
            <a:ext cx="2011680" cy="320040"/>
          </a:xfrm>
          <a:prstGeom prst="rect">
            <a:avLst/>
          </a:prstGeom>
          <a:noFill/>
          <a:ln/>
        </p:spPr>
        <p:txBody>
          <a:bodyPr wrap="square" lIns="0" tIns="0" rIns="0" bIns="0" rtlCol="0" anchor="ctr"/>
          <a:lstStyle/>
          <a:p>
            <a:pPr indent="0" marL="0">
              <a:buNone/>
            </a:pPr>
            <a:r>
              <a:rPr lang="en-US" sz="1500" b="1" dirty="0">
                <a:solidFill>
                  <a:srgbClr val="0E6A5C"/>
                </a:solidFill>
                <a:latin typeface="Calibri" pitchFamily="34" charset="0"/>
                <a:ea typeface="Calibri" pitchFamily="34" charset="-122"/>
                <a:cs typeface="Calibri" pitchFamily="34" charset="-120"/>
              </a:rPr>
              <a:t>One at a time</a:t>
            </a:r>
            <a:endParaRPr lang="en-US" sz="1500" dirty="0"/>
          </a:p>
        </p:txBody>
      </p:sp>
      <p:sp>
        <p:nvSpPr>
          <p:cNvPr id="10" name="Text 8"/>
          <p:cNvSpPr/>
          <p:nvPr/>
        </p:nvSpPr>
        <p:spPr>
          <a:xfrm>
            <a:off x="2971800" y="3941064"/>
            <a:ext cx="4023360" cy="640080"/>
          </a:xfrm>
          <a:prstGeom prst="rect">
            <a:avLst/>
          </a:prstGeom>
          <a:noFill/>
          <a:ln/>
        </p:spPr>
        <p:txBody>
          <a:bodyPr wrap="square" lIns="0" tIns="0" rIns="0" bIns="0" rtlCol="0" anchor="ctr"/>
          <a:lstStyle/>
          <a:p>
            <a:pPr indent="0" marL="0">
              <a:buNone/>
            </a:pPr>
            <a:r>
              <a:rPr lang="en-US" sz="1300" dirty="0">
                <a:solidFill>
                  <a:srgbClr val="403B33"/>
                </a:solidFill>
                <a:latin typeface="Calibri" pitchFamily="34" charset="0"/>
                <a:ea typeface="Calibri" pitchFamily="34" charset="-122"/>
                <a:cs typeface="Calibri" pitchFamily="34" charset="-120"/>
              </a:rPr>
              <a:t>A second caller hears an engaged tone and rings somebody else.</a:t>
            </a:r>
            <a:endParaRPr lang="en-US" sz="1300" dirty="0"/>
          </a:p>
        </p:txBody>
      </p:sp>
      <p:sp>
        <p:nvSpPr>
          <p:cNvPr id="11" name="Shape 9"/>
          <p:cNvSpPr/>
          <p:nvPr/>
        </p:nvSpPr>
        <p:spPr>
          <a:xfrm>
            <a:off x="685800" y="4837176"/>
            <a:ext cx="6492240" cy="868680"/>
          </a:xfrm>
          <a:prstGeom prst="roundRect">
            <a:avLst>
              <a:gd name="adj" fmla="val 6316"/>
            </a:avLst>
          </a:prstGeom>
          <a:solidFill>
            <a:srgbClr val="F4F2EC"/>
          </a:solidFill>
          <a:ln w="12700">
            <a:solidFill>
              <a:srgbClr val="E7E3D9"/>
            </a:solidFill>
            <a:prstDash val="solid"/>
          </a:ln>
        </p:spPr>
      </p:sp>
      <p:sp>
        <p:nvSpPr>
          <p:cNvPr id="12" name="Text 10"/>
          <p:cNvSpPr/>
          <p:nvPr/>
        </p:nvSpPr>
        <p:spPr>
          <a:xfrm>
            <a:off x="941832" y="4946904"/>
            <a:ext cx="2011680" cy="320040"/>
          </a:xfrm>
          <a:prstGeom prst="rect">
            <a:avLst/>
          </a:prstGeom>
          <a:noFill/>
          <a:ln/>
        </p:spPr>
        <p:txBody>
          <a:bodyPr wrap="square" lIns="0" tIns="0" rIns="0" bIns="0" rtlCol="0" anchor="ctr"/>
          <a:lstStyle/>
          <a:p>
            <a:pPr indent="0" marL="0">
              <a:buNone/>
            </a:pPr>
            <a:r>
              <a:rPr lang="en-US" sz="1500" b="1" dirty="0">
                <a:solidFill>
                  <a:srgbClr val="0E6A5C"/>
                </a:solidFill>
                <a:latin typeface="Calibri" pitchFamily="34" charset="0"/>
                <a:ea typeface="Calibri" pitchFamily="34" charset="-122"/>
                <a:cs typeface="Calibri" pitchFamily="34" charset="-120"/>
              </a:rPr>
              <a:t>One language</a:t>
            </a:r>
            <a:endParaRPr lang="en-US" sz="1500" dirty="0"/>
          </a:p>
        </p:txBody>
      </p:sp>
      <p:sp>
        <p:nvSpPr>
          <p:cNvPr id="13" name="Text 11"/>
          <p:cNvSpPr/>
          <p:nvPr/>
        </p:nvSpPr>
        <p:spPr>
          <a:xfrm>
            <a:off x="2971800" y="4965192"/>
            <a:ext cx="4023360" cy="640080"/>
          </a:xfrm>
          <a:prstGeom prst="rect">
            <a:avLst/>
          </a:prstGeom>
          <a:noFill/>
          <a:ln/>
        </p:spPr>
        <p:txBody>
          <a:bodyPr wrap="square" lIns="0" tIns="0" rIns="0" bIns="0" rtlCol="0" anchor="ctr"/>
          <a:lstStyle/>
          <a:p>
            <a:pPr indent="0" marL="0">
              <a:buNone/>
            </a:pPr>
            <a:r>
              <a:rPr lang="en-US" sz="1300" dirty="0">
                <a:solidFill>
                  <a:srgbClr val="403B33"/>
                </a:solidFill>
                <a:latin typeface="Calibri" pitchFamily="34" charset="0"/>
                <a:ea typeface="Calibri" pitchFamily="34" charset="-122"/>
                <a:cs typeface="Calibri" pitchFamily="34" charset="-120"/>
              </a:rPr>
              <a:t>Whoever picks up decides which language the call happens in.</a:t>
            </a:r>
            <a:endParaRPr lang="en-US" sz="1300" dirty="0"/>
          </a:p>
        </p:txBody>
      </p:sp>
      <p:sp>
        <p:nvSpPr>
          <p:cNvPr id="14" name="Shape 12"/>
          <p:cNvSpPr/>
          <p:nvPr/>
        </p:nvSpPr>
        <p:spPr>
          <a:xfrm>
            <a:off x="7635240" y="1600200"/>
            <a:ext cx="3840480" cy="4069080"/>
          </a:xfrm>
          <a:prstGeom prst="roundRect">
            <a:avLst>
              <a:gd name="adj" fmla="val 1905"/>
            </a:avLst>
          </a:prstGeom>
          <a:solidFill>
            <a:srgbClr val="052B26"/>
          </a:solidFill>
          <a:ln w="12700">
            <a:solidFill>
              <a:srgbClr val="052B26"/>
            </a:solidFill>
            <a:prstDash val="solid"/>
          </a:ln>
        </p:spPr>
      </p:sp>
      <p:sp>
        <p:nvSpPr>
          <p:cNvPr id="15" name="Text 13"/>
          <p:cNvSpPr/>
          <p:nvPr/>
        </p:nvSpPr>
        <p:spPr>
          <a:xfrm>
            <a:off x="7955280" y="1920240"/>
            <a:ext cx="3200400" cy="320040"/>
          </a:xfrm>
          <a:prstGeom prst="rect">
            <a:avLst/>
          </a:prstGeom>
          <a:noFill/>
          <a:ln/>
        </p:spPr>
        <p:txBody>
          <a:bodyPr wrap="square" lIns="0" tIns="0" rIns="0" bIns="0" rtlCol="0" anchor="ctr"/>
          <a:lstStyle/>
          <a:p>
            <a:pPr indent="0" marL="0">
              <a:buNone/>
            </a:pPr>
            <a:r>
              <a:rPr lang="en-US" sz="1200" b="1" spc="100" kern="0" dirty="0">
                <a:solidFill>
                  <a:srgbClr val="A6CE39"/>
                </a:solidFill>
                <a:latin typeface="Calibri" pitchFamily="34" charset="0"/>
                <a:ea typeface="Calibri" pitchFamily="34" charset="-122"/>
                <a:cs typeface="Calibri" pitchFamily="34" charset="-120"/>
              </a:rPr>
              <a:t>So what happens</a:t>
            </a:r>
            <a:endParaRPr lang="en-US" sz="1200" dirty="0"/>
          </a:p>
        </p:txBody>
      </p:sp>
      <p:sp>
        <p:nvSpPr>
          <p:cNvPr id="16" name="Text 14"/>
          <p:cNvSpPr/>
          <p:nvPr/>
        </p:nvSpPr>
        <p:spPr>
          <a:xfrm>
            <a:off x="7955280" y="2377440"/>
            <a:ext cx="3200400" cy="1005840"/>
          </a:xfrm>
          <a:prstGeom prst="rect">
            <a:avLst/>
          </a:prstGeom>
          <a:noFill/>
          <a:ln/>
        </p:spPr>
        <p:txBody>
          <a:bodyPr wrap="square" lIns="0" tIns="0" rIns="0" bIns="0" rtlCol="0" anchor="ctr"/>
          <a:lstStyle/>
          <a:p>
            <a:pPr indent="0" marL="0">
              <a:lnSpc>
                <a:spcPts val="2600"/>
              </a:lnSpc>
              <a:buNone/>
            </a:pPr>
            <a:r>
              <a:rPr lang="en-US" sz="1900" dirty="0">
                <a:solidFill>
                  <a:srgbClr val="FFFFFF"/>
                </a:solidFill>
                <a:latin typeface="Cambria" pitchFamily="34" charset="0"/>
                <a:ea typeface="Cambria" pitchFamily="34" charset="-122"/>
                <a:cs typeface="Cambria" pitchFamily="34" charset="-120"/>
              </a:rPr>
              <a:t>Somebody decides at eleven at night that they need to see a doctor.</a:t>
            </a:r>
            <a:endParaRPr lang="en-US" sz="1900" dirty="0"/>
          </a:p>
        </p:txBody>
      </p:sp>
      <p:sp>
        <p:nvSpPr>
          <p:cNvPr id="17" name="Text 15"/>
          <p:cNvSpPr/>
          <p:nvPr/>
        </p:nvSpPr>
        <p:spPr>
          <a:xfrm>
            <a:off x="7955280" y="3657600"/>
            <a:ext cx="3200400" cy="1463040"/>
          </a:xfrm>
          <a:prstGeom prst="rect">
            <a:avLst/>
          </a:prstGeom>
          <a:noFill/>
          <a:ln/>
        </p:spPr>
        <p:txBody>
          <a:bodyPr wrap="square" lIns="0" tIns="0" rIns="0" bIns="0" rtlCol="0" anchor="ctr"/>
          <a:lstStyle/>
          <a:p>
            <a:pPr indent="0" marL="0">
              <a:lnSpc>
                <a:spcPts val="2200"/>
              </a:lnSpc>
              <a:buNone/>
            </a:pPr>
            <a:r>
              <a:rPr lang="en-US" sz="1400" dirty="0">
                <a:solidFill>
                  <a:srgbClr val="72B7AB"/>
                </a:solidFill>
                <a:latin typeface="Calibri" pitchFamily="34" charset="0"/>
                <a:ea typeface="Calibri" pitchFamily="34" charset="-122"/>
                <a:cs typeface="Calibri" pitchFamily="34" charset="-120"/>
              </a:rPr>
              <a:t>They go to whichever hospital they can actually reach — and it is not the one whose phone is switched off.</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WHO IT IS FOR</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Three groups of people use it</a:t>
            </a:r>
            <a:endParaRPr lang="en-US" sz="3400" dirty="0"/>
          </a:p>
        </p:txBody>
      </p:sp>
      <p:sp>
        <p:nvSpPr>
          <p:cNvPr id="4" name="Shape 2"/>
          <p:cNvSpPr/>
          <p:nvPr/>
        </p:nvSpPr>
        <p:spPr>
          <a:xfrm>
            <a:off x="685800" y="1691640"/>
            <a:ext cx="3474720" cy="3931920"/>
          </a:xfrm>
          <a:prstGeom prst="roundRect">
            <a:avLst>
              <a:gd name="adj" fmla="val 2105"/>
            </a:avLst>
          </a:prstGeom>
          <a:solidFill>
            <a:srgbClr val="FFFFFF"/>
          </a:solidFill>
          <a:ln w="12700">
            <a:solidFill>
              <a:srgbClr val="E7E3D9"/>
            </a:solidFill>
            <a:prstDash val="solid"/>
          </a:ln>
        </p:spPr>
      </p:sp>
      <p:sp>
        <p:nvSpPr>
          <p:cNvPr id="5" name="Shape 3"/>
          <p:cNvSpPr/>
          <p:nvPr/>
        </p:nvSpPr>
        <p:spPr>
          <a:xfrm>
            <a:off x="978408" y="2011680"/>
            <a:ext cx="566928" cy="566928"/>
          </a:xfrm>
          <a:prstGeom prst="ellipse">
            <a:avLst/>
          </a:prstGeom>
          <a:solidFill>
            <a:srgbClr val="0E6A5C"/>
          </a:solidFill>
          <a:ln/>
        </p:spPr>
      </p:sp>
      <p:sp>
        <p:nvSpPr>
          <p:cNvPr id="6" name="Text 4"/>
          <p:cNvSpPr/>
          <p:nvPr/>
        </p:nvSpPr>
        <p:spPr>
          <a:xfrm>
            <a:off x="978408" y="201168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978408" y="2743200"/>
            <a:ext cx="2926080" cy="365760"/>
          </a:xfrm>
          <a:prstGeom prst="rect">
            <a:avLst/>
          </a:prstGeom>
          <a:noFill/>
          <a:ln/>
        </p:spPr>
        <p:txBody>
          <a:bodyPr wrap="square" lIns="0" tIns="0" rIns="0" bIns="0" rtlCol="0" anchor="ctr"/>
          <a:lstStyle/>
          <a:p>
            <a:pPr indent="0" marL="0">
              <a:buNone/>
            </a:pPr>
            <a:r>
              <a:rPr lang="en-US" sz="2200" b="1" dirty="0">
                <a:solidFill>
                  <a:srgbClr val="16130F"/>
                </a:solidFill>
                <a:latin typeface="Cambria" pitchFamily="34" charset="0"/>
                <a:ea typeface="Cambria" pitchFamily="34" charset="-122"/>
                <a:cs typeface="Cambria" pitchFamily="34" charset="-120"/>
              </a:rPr>
              <a:t>Patients</a:t>
            </a:r>
            <a:endParaRPr lang="en-US" sz="2200" dirty="0"/>
          </a:p>
        </p:txBody>
      </p:sp>
      <p:sp>
        <p:nvSpPr>
          <p:cNvPr id="8" name="Text 6"/>
          <p:cNvSpPr/>
          <p:nvPr/>
        </p:nvSpPr>
        <p:spPr>
          <a:xfrm>
            <a:off x="978408" y="3127248"/>
            <a:ext cx="2926080" cy="292608"/>
          </a:xfrm>
          <a:prstGeom prst="rect">
            <a:avLst/>
          </a:prstGeom>
          <a:noFill/>
          <a:ln/>
        </p:spPr>
        <p:txBody>
          <a:bodyPr wrap="square" lIns="0" tIns="0" rIns="0" bIns="0" rtlCol="0" anchor="ctr"/>
          <a:lstStyle/>
          <a:p>
            <a:pPr indent="0" marL="0">
              <a:buNone/>
            </a:pPr>
            <a:r>
              <a:rPr lang="en-US" sz="1200" b="1" dirty="0">
                <a:solidFill>
                  <a:srgbClr val="0E6A5C"/>
                </a:solidFill>
                <a:latin typeface="Calibri" pitchFamily="34" charset="0"/>
                <a:ea typeface="Calibri" pitchFamily="34" charset="-122"/>
                <a:cs typeface="Calibri" pitchFamily="34" charset="-120"/>
              </a:rPr>
              <a:t>Anyone in Trichy with a phone.</a:t>
            </a:r>
            <a:endParaRPr lang="en-US" sz="1200" dirty="0"/>
          </a:p>
        </p:txBody>
      </p:sp>
      <p:sp>
        <p:nvSpPr>
          <p:cNvPr id="9" name="Text 7"/>
          <p:cNvSpPr/>
          <p:nvPr/>
        </p:nvSpPr>
        <p:spPr>
          <a:xfrm>
            <a:off x="978408" y="3566160"/>
            <a:ext cx="2926080" cy="182880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They book their own appointment, at any hour, in English, Tamil or Hindi. No account and no app to install.</a:t>
            </a:r>
            <a:endParaRPr lang="en-US" sz="1300" dirty="0"/>
          </a:p>
        </p:txBody>
      </p:sp>
      <p:sp>
        <p:nvSpPr>
          <p:cNvPr id="10" name="Shape 8"/>
          <p:cNvSpPr/>
          <p:nvPr/>
        </p:nvSpPr>
        <p:spPr>
          <a:xfrm>
            <a:off x="4389120" y="1691640"/>
            <a:ext cx="3474720" cy="3931920"/>
          </a:xfrm>
          <a:prstGeom prst="roundRect">
            <a:avLst>
              <a:gd name="adj" fmla="val 2105"/>
            </a:avLst>
          </a:prstGeom>
          <a:solidFill>
            <a:srgbClr val="FFFFFF"/>
          </a:solidFill>
          <a:ln w="12700">
            <a:solidFill>
              <a:srgbClr val="E7E3D9"/>
            </a:solidFill>
            <a:prstDash val="solid"/>
          </a:ln>
        </p:spPr>
      </p:sp>
      <p:sp>
        <p:nvSpPr>
          <p:cNvPr id="11" name="Shape 9"/>
          <p:cNvSpPr/>
          <p:nvPr/>
        </p:nvSpPr>
        <p:spPr>
          <a:xfrm>
            <a:off x="4681728" y="2011680"/>
            <a:ext cx="566928" cy="566928"/>
          </a:xfrm>
          <a:prstGeom prst="ellipse">
            <a:avLst/>
          </a:prstGeom>
          <a:solidFill>
            <a:srgbClr val="0E6A5C"/>
          </a:solidFill>
          <a:ln/>
        </p:spPr>
      </p:sp>
      <p:sp>
        <p:nvSpPr>
          <p:cNvPr id="12" name="Text 10"/>
          <p:cNvSpPr/>
          <p:nvPr/>
        </p:nvSpPr>
        <p:spPr>
          <a:xfrm>
            <a:off x="4681728" y="201168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t>
            </a:r>
            <a:endParaRPr lang="en-US" sz="1500" dirty="0"/>
          </a:p>
        </p:txBody>
      </p:sp>
      <p:sp>
        <p:nvSpPr>
          <p:cNvPr id="13" name="Text 11"/>
          <p:cNvSpPr/>
          <p:nvPr/>
        </p:nvSpPr>
        <p:spPr>
          <a:xfrm>
            <a:off x="4681728" y="2743200"/>
            <a:ext cx="2926080" cy="365760"/>
          </a:xfrm>
          <a:prstGeom prst="rect">
            <a:avLst/>
          </a:prstGeom>
          <a:noFill/>
          <a:ln/>
        </p:spPr>
        <p:txBody>
          <a:bodyPr wrap="square" lIns="0" tIns="0" rIns="0" bIns="0" rtlCol="0" anchor="ctr"/>
          <a:lstStyle/>
          <a:p>
            <a:pPr indent="0" marL="0">
              <a:buNone/>
            </a:pPr>
            <a:r>
              <a:rPr lang="en-US" sz="2200" b="1" dirty="0">
                <a:solidFill>
                  <a:srgbClr val="16130F"/>
                </a:solidFill>
                <a:latin typeface="Cambria" pitchFamily="34" charset="0"/>
                <a:ea typeface="Cambria" pitchFamily="34" charset="-122"/>
                <a:cs typeface="Cambria" pitchFamily="34" charset="-120"/>
              </a:rPr>
              <a:t>Reception</a:t>
            </a:r>
            <a:endParaRPr lang="en-US" sz="2200" dirty="0"/>
          </a:p>
        </p:txBody>
      </p:sp>
      <p:sp>
        <p:nvSpPr>
          <p:cNvPr id="14" name="Text 12"/>
          <p:cNvSpPr/>
          <p:nvPr/>
        </p:nvSpPr>
        <p:spPr>
          <a:xfrm>
            <a:off x="4681728" y="3127248"/>
            <a:ext cx="2926080" cy="292608"/>
          </a:xfrm>
          <a:prstGeom prst="rect">
            <a:avLst/>
          </a:prstGeom>
          <a:noFill/>
          <a:ln/>
        </p:spPr>
        <p:txBody>
          <a:bodyPr wrap="square" lIns="0" tIns="0" rIns="0" bIns="0" rtlCol="0" anchor="ctr"/>
          <a:lstStyle/>
          <a:p>
            <a:pPr indent="0" marL="0">
              <a:buNone/>
            </a:pPr>
            <a:r>
              <a:rPr lang="en-US" sz="1200" b="1" dirty="0">
                <a:solidFill>
                  <a:srgbClr val="0E6A5C"/>
                </a:solidFill>
                <a:latin typeface="Calibri" pitchFamily="34" charset="0"/>
                <a:ea typeface="Calibri" pitchFamily="34" charset="-122"/>
                <a:cs typeface="Calibri" pitchFamily="34" charset="-120"/>
              </a:rPr>
              <a:t>The people at the counter.</a:t>
            </a:r>
            <a:endParaRPr lang="en-US" sz="1200" dirty="0"/>
          </a:p>
        </p:txBody>
      </p:sp>
      <p:sp>
        <p:nvSpPr>
          <p:cNvPr id="15" name="Text 13"/>
          <p:cNvSpPr/>
          <p:nvPr/>
        </p:nvSpPr>
        <p:spPr>
          <a:xfrm>
            <a:off x="4681728" y="3566160"/>
            <a:ext cx="2926080" cy="182880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Bookings appear on their screen by themselves, with a chime. They also book for callers, and send each patient the details in writing.</a:t>
            </a:r>
            <a:endParaRPr lang="en-US" sz="1300" dirty="0"/>
          </a:p>
        </p:txBody>
      </p:sp>
      <p:sp>
        <p:nvSpPr>
          <p:cNvPr id="16" name="Shape 14"/>
          <p:cNvSpPr/>
          <p:nvPr/>
        </p:nvSpPr>
        <p:spPr>
          <a:xfrm>
            <a:off x="8092440" y="1691640"/>
            <a:ext cx="3474720" cy="3931920"/>
          </a:xfrm>
          <a:prstGeom prst="roundRect">
            <a:avLst>
              <a:gd name="adj" fmla="val 2105"/>
            </a:avLst>
          </a:prstGeom>
          <a:solidFill>
            <a:srgbClr val="FFFFFF"/>
          </a:solidFill>
          <a:ln w="12700">
            <a:solidFill>
              <a:srgbClr val="E7E3D9"/>
            </a:solidFill>
            <a:prstDash val="solid"/>
          </a:ln>
        </p:spPr>
      </p:sp>
      <p:sp>
        <p:nvSpPr>
          <p:cNvPr id="17" name="Shape 15"/>
          <p:cNvSpPr/>
          <p:nvPr/>
        </p:nvSpPr>
        <p:spPr>
          <a:xfrm>
            <a:off x="8385048" y="2011680"/>
            <a:ext cx="566928" cy="566928"/>
          </a:xfrm>
          <a:prstGeom prst="ellipse">
            <a:avLst/>
          </a:prstGeom>
          <a:solidFill>
            <a:srgbClr val="0E6A5C"/>
          </a:solidFill>
          <a:ln/>
        </p:spPr>
      </p:sp>
      <p:sp>
        <p:nvSpPr>
          <p:cNvPr id="18" name="Text 16"/>
          <p:cNvSpPr/>
          <p:nvPr/>
        </p:nvSpPr>
        <p:spPr>
          <a:xfrm>
            <a:off x="8385048" y="201168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19" name="Text 17"/>
          <p:cNvSpPr/>
          <p:nvPr/>
        </p:nvSpPr>
        <p:spPr>
          <a:xfrm>
            <a:off x="8385048" y="2743200"/>
            <a:ext cx="2926080" cy="365760"/>
          </a:xfrm>
          <a:prstGeom prst="rect">
            <a:avLst/>
          </a:prstGeom>
          <a:noFill/>
          <a:ln/>
        </p:spPr>
        <p:txBody>
          <a:bodyPr wrap="square" lIns="0" tIns="0" rIns="0" bIns="0" rtlCol="0" anchor="ctr"/>
          <a:lstStyle/>
          <a:p>
            <a:pPr indent="0" marL="0">
              <a:buNone/>
            </a:pPr>
            <a:r>
              <a:rPr lang="en-US" sz="2200" b="1" dirty="0">
                <a:solidFill>
                  <a:srgbClr val="16130F"/>
                </a:solidFill>
                <a:latin typeface="Cambria" pitchFamily="34" charset="0"/>
                <a:ea typeface="Cambria" pitchFamily="34" charset="-122"/>
                <a:cs typeface="Cambria" pitchFamily="34" charset="-120"/>
              </a:rPr>
              <a:t>Doctors</a:t>
            </a:r>
            <a:endParaRPr lang="en-US" sz="2200" dirty="0"/>
          </a:p>
        </p:txBody>
      </p:sp>
      <p:sp>
        <p:nvSpPr>
          <p:cNvPr id="20" name="Text 18"/>
          <p:cNvSpPr/>
          <p:nvPr/>
        </p:nvSpPr>
        <p:spPr>
          <a:xfrm>
            <a:off x="8385048" y="3127248"/>
            <a:ext cx="2926080" cy="292608"/>
          </a:xfrm>
          <a:prstGeom prst="rect">
            <a:avLst/>
          </a:prstGeom>
          <a:noFill/>
          <a:ln/>
        </p:spPr>
        <p:txBody>
          <a:bodyPr wrap="square" lIns="0" tIns="0" rIns="0" bIns="0" rtlCol="0" anchor="ctr"/>
          <a:lstStyle/>
          <a:p>
            <a:pPr indent="0" marL="0">
              <a:buNone/>
            </a:pPr>
            <a:r>
              <a:rPr lang="en-US" sz="1200" b="1" dirty="0">
                <a:solidFill>
                  <a:srgbClr val="0E6A5C"/>
                </a:solidFill>
                <a:latin typeface="Calibri" pitchFamily="34" charset="0"/>
                <a:ea typeface="Calibri" pitchFamily="34" charset="-122"/>
                <a:cs typeface="Calibri" pitchFamily="34" charset="-120"/>
              </a:rPr>
              <a:t>The 18 consultants.</a:t>
            </a:r>
            <a:endParaRPr lang="en-US" sz="1200" dirty="0"/>
          </a:p>
        </p:txBody>
      </p:sp>
      <p:sp>
        <p:nvSpPr>
          <p:cNvPr id="21" name="Text 19"/>
          <p:cNvSpPr/>
          <p:nvPr/>
        </p:nvSpPr>
        <p:spPr>
          <a:xfrm>
            <a:off x="8385048" y="3566160"/>
            <a:ext cx="2926080" cy="182880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They keep their consulting hours, fee and room correct. Their clinical work stays in Klinique — this does not touch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WHAT IT DOES — THE PATIENT</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A patient books in about a minute</a:t>
            </a:r>
            <a:endParaRPr lang="en-US" sz="3400" dirty="0"/>
          </a:p>
        </p:txBody>
      </p:sp>
      <p:sp>
        <p:nvSpPr>
          <p:cNvPr id="4" name="Shape 2"/>
          <p:cNvSpPr/>
          <p:nvPr/>
        </p:nvSpPr>
        <p:spPr>
          <a:xfrm>
            <a:off x="685800" y="1783080"/>
            <a:ext cx="475488" cy="475488"/>
          </a:xfrm>
          <a:prstGeom prst="ellipse">
            <a:avLst/>
          </a:prstGeom>
          <a:solidFill>
            <a:srgbClr val="0E6A5C"/>
          </a:solidFill>
          <a:ln/>
        </p:spPr>
      </p:sp>
      <p:sp>
        <p:nvSpPr>
          <p:cNvPr id="5" name="Text 3"/>
          <p:cNvSpPr/>
          <p:nvPr/>
        </p:nvSpPr>
        <p:spPr>
          <a:xfrm>
            <a:off x="685800" y="178308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463040" y="1764792"/>
            <a:ext cx="4572000" cy="329184"/>
          </a:xfrm>
          <a:prstGeom prst="rect">
            <a:avLst/>
          </a:prstGeom>
          <a:noFill/>
          <a:ln/>
        </p:spPr>
        <p:txBody>
          <a:bodyPr wrap="square" lIns="0" tIns="0" rIns="0" bIns="0" rtlCol="0" anchor="ctr"/>
          <a:lstStyle/>
          <a:p>
            <a:pPr indent="0" marL="0">
              <a:buNone/>
            </a:pPr>
            <a:r>
              <a:rPr lang="en-US" sz="1700" b="1" dirty="0">
                <a:solidFill>
                  <a:srgbClr val="16130F"/>
                </a:solidFill>
                <a:latin typeface="Calibri" pitchFamily="34" charset="0"/>
                <a:ea typeface="Calibri" pitchFamily="34" charset="-122"/>
                <a:cs typeface="Calibri" pitchFamily="34" charset="-120"/>
              </a:rPr>
              <a:t>Opens the website</a:t>
            </a:r>
            <a:endParaRPr lang="en-US" sz="1700" dirty="0"/>
          </a:p>
        </p:txBody>
      </p:sp>
      <p:sp>
        <p:nvSpPr>
          <p:cNvPr id="7" name="Text 5"/>
          <p:cNvSpPr/>
          <p:nvPr/>
        </p:nvSpPr>
        <p:spPr>
          <a:xfrm>
            <a:off x="1463040" y="2093976"/>
            <a:ext cx="5486400" cy="457200"/>
          </a:xfrm>
          <a:prstGeom prst="rect">
            <a:avLst/>
          </a:prstGeom>
          <a:noFill/>
          <a:ln/>
        </p:spPr>
        <p:txBody>
          <a:bodyPr wrap="square" lIns="0" tIns="0" rIns="0" bIns="0" rtlCol="0" anchor="ctr"/>
          <a:lstStyle/>
          <a:p>
            <a:pPr indent="0" marL="0">
              <a:buNone/>
            </a:pPr>
            <a:r>
              <a:rPr lang="en-US" sz="1300" dirty="0">
                <a:solidFill>
                  <a:srgbClr val="706B5E"/>
                </a:solidFill>
                <a:latin typeface="Calibri" pitchFamily="34" charset="0"/>
                <a:ea typeface="Calibri" pitchFamily="34" charset="-122"/>
                <a:cs typeface="Calibri" pitchFamily="34" charset="-120"/>
              </a:rPr>
              <a:t>On a phone. It appears in their own language.</a:t>
            </a:r>
            <a:endParaRPr lang="en-US" sz="1300" dirty="0"/>
          </a:p>
        </p:txBody>
      </p:sp>
      <p:sp>
        <p:nvSpPr>
          <p:cNvPr id="8" name="Shape 6"/>
          <p:cNvSpPr/>
          <p:nvPr/>
        </p:nvSpPr>
        <p:spPr>
          <a:xfrm>
            <a:off x="923544" y="2286000"/>
            <a:ext cx="0" cy="548640"/>
          </a:xfrm>
          <a:prstGeom prst="line">
            <a:avLst/>
          </a:prstGeom>
          <a:noFill/>
          <a:ln w="19050">
            <a:solidFill>
              <a:srgbClr val="E7E3D9"/>
            </a:solidFill>
            <a:prstDash val="solid"/>
          </a:ln>
        </p:spPr>
      </p:sp>
      <p:sp>
        <p:nvSpPr>
          <p:cNvPr id="9" name="Shape 7"/>
          <p:cNvSpPr/>
          <p:nvPr/>
        </p:nvSpPr>
        <p:spPr>
          <a:xfrm>
            <a:off x="685800" y="2843784"/>
            <a:ext cx="475488" cy="475488"/>
          </a:xfrm>
          <a:prstGeom prst="ellipse">
            <a:avLst/>
          </a:prstGeom>
          <a:solidFill>
            <a:srgbClr val="0E6A5C"/>
          </a:solidFill>
          <a:ln/>
        </p:spPr>
      </p:sp>
      <p:sp>
        <p:nvSpPr>
          <p:cNvPr id="10" name="Text 8"/>
          <p:cNvSpPr/>
          <p:nvPr/>
        </p:nvSpPr>
        <p:spPr>
          <a:xfrm>
            <a:off x="685800" y="284378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63040" y="2825496"/>
            <a:ext cx="4572000" cy="329184"/>
          </a:xfrm>
          <a:prstGeom prst="rect">
            <a:avLst/>
          </a:prstGeom>
          <a:noFill/>
          <a:ln/>
        </p:spPr>
        <p:txBody>
          <a:bodyPr wrap="square" lIns="0" tIns="0" rIns="0" bIns="0" rtlCol="0" anchor="ctr"/>
          <a:lstStyle/>
          <a:p>
            <a:pPr indent="0" marL="0">
              <a:buNone/>
            </a:pPr>
            <a:r>
              <a:rPr lang="en-US" sz="1700" b="1" dirty="0">
                <a:solidFill>
                  <a:srgbClr val="16130F"/>
                </a:solidFill>
                <a:latin typeface="Calibri" pitchFamily="34" charset="0"/>
                <a:ea typeface="Calibri" pitchFamily="34" charset="-122"/>
                <a:cs typeface="Calibri" pitchFamily="34" charset="-120"/>
              </a:rPr>
              <a:t>Picks a department or doctor</a:t>
            </a:r>
            <a:endParaRPr lang="en-US" sz="1700" dirty="0"/>
          </a:p>
        </p:txBody>
      </p:sp>
      <p:sp>
        <p:nvSpPr>
          <p:cNvPr id="12" name="Text 10"/>
          <p:cNvSpPr/>
          <p:nvPr/>
        </p:nvSpPr>
        <p:spPr>
          <a:xfrm>
            <a:off x="1463040" y="3154680"/>
            <a:ext cx="5486400" cy="457200"/>
          </a:xfrm>
          <a:prstGeom prst="rect">
            <a:avLst/>
          </a:prstGeom>
          <a:noFill/>
          <a:ln/>
        </p:spPr>
        <p:txBody>
          <a:bodyPr wrap="square" lIns="0" tIns="0" rIns="0" bIns="0" rtlCol="0" anchor="ctr"/>
          <a:lstStyle/>
          <a:p>
            <a:pPr indent="0" marL="0">
              <a:buNone/>
            </a:pPr>
            <a:r>
              <a:rPr lang="en-US" sz="1300" dirty="0">
                <a:solidFill>
                  <a:srgbClr val="706B5E"/>
                </a:solidFill>
                <a:latin typeface="Calibri" pitchFamily="34" charset="0"/>
                <a:ea typeface="Calibri" pitchFamily="34" charset="-122"/>
                <a:cs typeface="Calibri" pitchFamily="34" charset="-120"/>
              </a:rPr>
              <a:t>Fees and consulting hours are shown before they choose.</a:t>
            </a:r>
            <a:endParaRPr lang="en-US" sz="1300" dirty="0"/>
          </a:p>
        </p:txBody>
      </p:sp>
      <p:sp>
        <p:nvSpPr>
          <p:cNvPr id="13" name="Shape 11"/>
          <p:cNvSpPr/>
          <p:nvPr/>
        </p:nvSpPr>
        <p:spPr>
          <a:xfrm>
            <a:off x="923544" y="3346704"/>
            <a:ext cx="0" cy="548640"/>
          </a:xfrm>
          <a:prstGeom prst="line">
            <a:avLst/>
          </a:prstGeom>
          <a:noFill/>
          <a:ln w="19050">
            <a:solidFill>
              <a:srgbClr val="E7E3D9"/>
            </a:solidFill>
            <a:prstDash val="solid"/>
          </a:ln>
        </p:spPr>
      </p:sp>
      <p:sp>
        <p:nvSpPr>
          <p:cNvPr id="14" name="Shape 12"/>
          <p:cNvSpPr/>
          <p:nvPr/>
        </p:nvSpPr>
        <p:spPr>
          <a:xfrm>
            <a:off x="685800" y="3904488"/>
            <a:ext cx="475488" cy="475488"/>
          </a:xfrm>
          <a:prstGeom prst="ellipse">
            <a:avLst/>
          </a:prstGeom>
          <a:solidFill>
            <a:srgbClr val="0E6A5C"/>
          </a:solidFill>
          <a:ln/>
        </p:spPr>
      </p:sp>
      <p:sp>
        <p:nvSpPr>
          <p:cNvPr id="15" name="Text 13"/>
          <p:cNvSpPr/>
          <p:nvPr/>
        </p:nvSpPr>
        <p:spPr>
          <a:xfrm>
            <a:off x="685800" y="390448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463040" y="3886200"/>
            <a:ext cx="4572000" cy="329184"/>
          </a:xfrm>
          <a:prstGeom prst="rect">
            <a:avLst/>
          </a:prstGeom>
          <a:noFill/>
          <a:ln/>
        </p:spPr>
        <p:txBody>
          <a:bodyPr wrap="square" lIns="0" tIns="0" rIns="0" bIns="0" rtlCol="0" anchor="ctr"/>
          <a:lstStyle/>
          <a:p>
            <a:pPr indent="0" marL="0">
              <a:buNone/>
            </a:pPr>
            <a:r>
              <a:rPr lang="en-US" sz="1700" b="1" dirty="0">
                <a:solidFill>
                  <a:srgbClr val="16130F"/>
                </a:solidFill>
                <a:latin typeface="Calibri" pitchFamily="34" charset="0"/>
                <a:ea typeface="Calibri" pitchFamily="34" charset="-122"/>
                <a:cs typeface="Calibri" pitchFamily="34" charset="-120"/>
              </a:rPr>
              <a:t>Picks a free time</a:t>
            </a:r>
            <a:endParaRPr lang="en-US" sz="1700" dirty="0"/>
          </a:p>
        </p:txBody>
      </p:sp>
      <p:sp>
        <p:nvSpPr>
          <p:cNvPr id="17" name="Text 15"/>
          <p:cNvSpPr/>
          <p:nvPr/>
        </p:nvSpPr>
        <p:spPr>
          <a:xfrm>
            <a:off x="1463040" y="4215384"/>
            <a:ext cx="5486400" cy="457200"/>
          </a:xfrm>
          <a:prstGeom prst="rect">
            <a:avLst/>
          </a:prstGeom>
          <a:noFill/>
          <a:ln/>
        </p:spPr>
        <p:txBody>
          <a:bodyPr wrap="square" lIns="0" tIns="0" rIns="0" bIns="0" rtlCol="0" anchor="ctr"/>
          <a:lstStyle/>
          <a:p>
            <a:pPr indent="0" marL="0">
              <a:buNone/>
            </a:pPr>
            <a:r>
              <a:rPr lang="en-US" sz="1300" dirty="0">
                <a:solidFill>
                  <a:srgbClr val="706B5E"/>
                </a:solidFill>
                <a:latin typeface="Calibri" pitchFamily="34" charset="0"/>
                <a:ea typeface="Calibri" pitchFamily="34" charset="-122"/>
                <a:cs typeface="Calibri" pitchFamily="34" charset="-120"/>
              </a:rPr>
              <a:t>Only times that doctor actually sits are offered.</a:t>
            </a:r>
            <a:endParaRPr lang="en-US" sz="1300" dirty="0"/>
          </a:p>
        </p:txBody>
      </p:sp>
      <p:sp>
        <p:nvSpPr>
          <p:cNvPr id="18" name="Shape 16"/>
          <p:cNvSpPr/>
          <p:nvPr/>
        </p:nvSpPr>
        <p:spPr>
          <a:xfrm>
            <a:off x="923544" y="4407408"/>
            <a:ext cx="0" cy="548640"/>
          </a:xfrm>
          <a:prstGeom prst="line">
            <a:avLst/>
          </a:prstGeom>
          <a:noFill/>
          <a:ln w="19050">
            <a:solidFill>
              <a:srgbClr val="E7E3D9"/>
            </a:solidFill>
            <a:prstDash val="solid"/>
          </a:ln>
        </p:spPr>
      </p:sp>
      <p:sp>
        <p:nvSpPr>
          <p:cNvPr id="19" name="Shape 17"/>
          <p:cNvSpPr/>
          <p:nvPr/>
        </p:nvSpPr>
        <p:spPr>
          <a:xfrm>
            <a:off x="685800" y="4965192"/>
            <a:ext cx="475488" cy="475488"/>
          </a:xfrm>
          <a:prstGeom prst="ellipse">
            <a:avLst/>
          </a:prstGeom>
          <a:solidFill>
            <a:srgbClr val="0E6A5C"/>
          </a:solidFill>
          <a:ln/>
        </p:spPr>
      </p:sp>
      <p:sp>
        <p:nvSpPr>
          <p:cNvPr id="20" name="Text 18"/>
          <p:cNvSpPr/>
          <p:nvPr/>
        </p:nvSpPr>
        <p:spPr>
          <a:xfrm>
            <a:off x="685800" y="49651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463040" y="4946904"/>
            <a:ext cx="4572000" cy="329184"/>
          </a:xfrm>
          <a:prstGeom prst="rect">
            <a:avLst/>
          </a:prstGeom>
          <a:noFill/>
          <a:ln/>
        </p:spPr>
        <p:txBody>
          <a:bodyPr wrap="square" lIns="0" tIns="0" rIns="0" bIns="0" rtlCol="0" anchor="ctr"/>
          <a:lstStyle/>
          <a:p>
            <a:pPr indent="0" marL="0">
              <a:buNone/>
            </a:pPr>
            <a:r>
              <a:rPr lang="en-US" sz="1700" b="1" dirty="0">
                <a:solidFill>
                  <a:srgbClr val="16130F"/>
                </a:solidFill>
                <a:latin typeface="Calibri" pitchFamily="34" charset="0"/>
                <a:ea typeface="Calibri" pitchFamily="34" charset="-122"/>
                <a:cs typeface="Calibri" pitchFamily="34" charset="-120"/>
              </a:rPr>
              <a:t>Gets a reference</a:t>
            </a:r>
            <a:endParaRPr lang="en-US" sz="1700" dirty="0"/>
          </a:p>
        </p:txBody>
      </p:sp>
      <p:sp>
        <p:nvSpPr>
          <p:cNvPr id="22" name="Text 20"/>
          <p:cNvSpPr/>
          <p:nvPr/>
        </p:nvSpPr>
        <p:spPr>
          <a:xfrm>
            <a:off x="1463040" y="5276088"/>
            <a:ext cx="5486400" cy="457200"/>
          </a:xfrm>
          <a:prstGeom prst="rect">
            <a:avLst/>
          </a:prstGeom>
          <a:noFill/>
          <a:ln/>
        </p:spPr>
        <p:txBody>
          <a:bodyPr wrap="square" lIns="0" tIns="0" rIns="0" bIns="0" rtlCol="0" anchor="ctr"/>
          <a:lstStyle/>
          <a:p>
            <a:pPr indent="0" marL="0">
              <a:buNone/>
            </a:pPr>
            <a:r>
              <a:rPr lang="en-US" sz="1300" dirty="0">
                <a:solidFill>
                  <a:srgbClr val="706B5E"/>
                </a:solidFill>
                <a:latin typeface="Calibri" pitchFamily="34" charset="0"/>
                <a:ea typeface="Calibri" pitchFamily="34" charset="-122"/>
                <a:cs typeface="Calibri" pitchFamily="34" charset="-120"/>
              </a:rPr>
              <a:t>Like DH-WEB01. Reception sends it to them on WhatsApp.</a:t>
            </a:r>
            <a:endParaRPr lang="en-US" sz="1300" dirty="0"/>
          </a:p>
        </p:txBody>
      </p:sp>
      <p:sp>
        <p:nvSpPr>
          <p:cNvPr id="23" name="Shape 21"/>
          <p:cNvSpPr/>
          <p:nvPr/>
        </p:nvSpPr>
        <p:spPr>
          <a:xfrm>
            <a:off x="7635240" y="1783080"/>
            <a:ext cx="3840480" cy="3108960"/>
          </a:xfrm>
          <a:prstGeom prst="roundRect">
            <a:avLst>
              <a:gd name="adj" fmla="val 2353"/>
            </a:avLst>
          </a:prstGeom>
          <a:solidFill>
            <a:srgbClr val="EEF6F4"/>
          </a:solidFill>
          <a:ln w="12700">
            <a:solidFill>
              <a:srgbClr val="72B7AB"/>
            </a:solidFill>
            <a:prstDash val="solid"/>
          </a:ln>
        </p:spPr>
      </p:sp>
      <p:sp>
        <p:nvSpPr>
          <p:cNvPr id="24" name="Text 22"/>
          <p:cNvSpPr/>
          <p:nvPr/>
        </p:nvSpPr>
        <p:spPr>
          <a:xfrm>
            <a:off x="7955280" y="2103120"/>
            <a:ext cx="3200400" cy="365760"/>
          </a:xfrm>
          <a:prstGeom prst="rect">
            <a:avLst/>
          </a:prstGeom>
          <a:noFill/>
          <a:ln/>
        </p:spPr>
        <p:txBody>
          <a:bodyPr wrap="square" lIns="0" tIns="0" rIns="0" bIns="0" rtlCol="0" anchor="ctr"/>
          <a:lstStyle/>
          <a:p>
            <a:pPr indent="0" marL="0">
              <a:buNone/>
            </a:pPr>
            <a:r>
              <a:rPr lang="en-US" sz="2100" b="1" dirty="0">
                <a:solidFill>
                  <a:srgbClr val="0E6A5C"/>
                </a:solidFill>
                <a:latin typeface="Cambria" pitchFamily="34" charset="0"/>
                <a:ea typeface="Cambria" pitchFamily="34" charset="-122"/>
                <a:cs typeface="Cambria" pitchFamily="34" charset="-120"/>
              </a:rPr>
              <a:t>No account needed</a:t>
            </a:r>
            <a:endParaRPr lang="en-US" sz="2100" dirty="0"/>
          </a:p>
        </p:txBody>
      </p:sp>
      <p:sp>
        <p:nvSpPr>
          <p:cNvPr id="25" name="Text 23"/>
          <p:cNvSpPr/>
          <p:nvPr/>
        </p:nvSpPr>
        <p:spPr>
          <a:xfrm>
            <a:off x="7955280" y="2606040"/>
            <a:ext cx="3200400" cy="201168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A patient never has to sign up, remember a password or download anything. An account is offered — it just keeps their appointments in one place — but booking never requires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WHAT IT DOES — THE DESK</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Reception stops answering the same call</a:t>
            </a:r>
            <a:endParaRPr lang="en-US" sz="3400" dirty="0"/>
          </a:p>
        </p:txBody>
      </p:sp>
      <p:sp>
        <p:nvSpPr>
          <p:cNvPr id="4" name="Shape 2"/>
          <p:cNvSpPr/>
          <p:nvPr/>
        </p:nvSpPr>
        <p:spPr>
          <a:xfrm>
            <a:off x="685800" y="1783080"/>
            <a:ext cx="5257800" cy="1691640"/>
          </a:xfrm>
          <a:prstGeom prst="roundRect">
            <a:avLst>
              <a:gd name="adj" fmla="val 4324"/>
            </a:avLst>
          </a:prstGeom>
          <a:solidFill>
            <a:srgbClr val="FFFFFF"/>
          </a:solidFill>
          <a:ln w="12700">
            <a:solidFill>
              <a:srgbClr val="E7E3D9"/>
            </a:solidFill>
            <a:prstDash val="solid"/>
          </a:ln>
        </p:spPr>
      </p:sp>
      <p:sp>
        <p:nvSpPr>
          <p:cNvPr id="5" name="Shape 3"/>
          <p:cNvSpPr/>
          <p:nvPr/>
        </p:nvSpPr>
        <p:spPr>
          <a:xfrm>
            <a:off x="978408" y="2075688"/>
            <a:ext cx="420624" cy="420624"/>
          </a:xfrm>
          <a:prstGeom prst="ellipse">
            <a:avLst/>
          </a:prstGeom>
          <a:solidFill>
            <a:srgbClr val="EEF6F4"/>
          </a:solidFill>
          <a:ln/>
        </p:spPr>
      </p:sp>
      <p:sp>
        <p:nvSpPr>
          <p:cNvPr id="6" name="Text 4"/>
          <p:cNvSpPr/>
          <p:nvPr/>
        </p:nvSpPr>
        <p:spPr>
          <a:xfrm>
            <a:off x="978408" y="2075688"/>
            <a:ext cx="420624" cy="420624"/>
          </a:xfrm>
          <a:prstGeom prst="rect">
            <a:avLst/>
          </a:prstGeom>
          <a:noFill/>
          <a:ln/>
        </p:spPr>
        <p:txBody>
          <a:bodyPr wrap="square" lIns="0" tIns="0" rIns="0" bIns="0" rtlCol="0" anchor="ctr"/>
          <a:lstStyle/>
          <a:p>
            <a:pPr algn="ctr" indent="0" marL="0">
              <a:buNone/>
            </a:pPr>
            <a:r>
              <a:rPr lang="en-US" sz="1500" b="1" dirty="0">
                <a:solidFill>
                  <a:srgbClr val="0E6A5C"/>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00200" y="2057400"/>
            <a:ext cx="4114800" cy="365760"/>
          </a:xfrm>
          <a:prstGeom prst="rect">
            <a:avLst/>
          </a:prstGeom>
          <a:noFill/>
          <a:ln/>
        </p:spPr>
        <p:txBody>
          <a:bodyPr wrap="square" lIns="0" tIns="0" rIns="0" bIns="0" rtlCol="0" anchor="ctr"/>
          <a:lstStyle/>
          <a:p>
            <a:pPr indent="0" marL="0">
              <a:buNone/>
            </a:pPr>
            <a:r>
              <a:rPr lang="en-US" sz="1600" b="1" dirty="0">
                <a:solidFill>
                  <a:srgbClr val="16130F"/>
                </a:solidFill>
                <a:latin typeface="Calibri" pitchFamily="34" charset="0"/>
                <a:ea typeface="Calibri" pitchFamily="34" charset="-122"/>
                <a:cs typeface="Calibri" pitchFamily="34" charset="-120"/>
              </a:rPr>
              <a:t>Bookings arrive on their own</a:t>
            </a:r>
            <a:endParaRPr lang="en-US" sz="1600" dirty="0"/>
          </a:p>
        </p:txBody>
      </p:sp>
      <p:sp>
        <p:nvSpPr>
          <p:cNvPr id="8" name="Text 6"/>
          <p:cNvSpPr/>
          <p:nvPr/>
        </p:nvSpPr>
        <p:spPr>
          <a:xfrm>
            <a:off x="1600200" y="2496312"/>
            <a:ext cx="4114800" cy="82296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With a chime and an alert. Nobody types anything, and nothing waits in an inbox.</a:t>
            </a:r>
            <a:endParaRPr lang="en-US" sz="1300" dirty="0"/>
          </a:p>
        </p:txBody>
      </p:sp>
      <p:sp>
        <p:nvSpPr>
          <p:cNvPr id="9" name="Shape 7"/>
          <p:cNvSpPr/>
          <p:nvPr/>
        </p:nvSpPr>
        <p:spPr>
          <a:xfrm>
            <a:off x="6217920" y="1783080"/>
            <a:ext cx="5257800" cy="1691640"/>
          </a:xfrm>
          <a:prstGeom prst="roundRect">
            <a:avLst>
              <a:gd name="adj" fmla="val 4324"/>
            </a:avLst>
          </a:prstGeom>
          <a:solidFill>
            <a:srgbClr val="FFFFFF"/>
          </a:solidFill>
          <a:ln w="12700">
            <a:solidFill>
              <a:srgbClr val="E7E3D9"/>
            </a:solidFill>
            <a:prstDash val="solid"/>
          </a:ln>
        </p:spPr>
      </p:sp>
      <p:sp>
        <p:nvSpPr>
          <p:cNvPr id="10" name="Shape 8"/>
          <p:cNvSpPr/>
          <p:nvPr/>
        </p:nvSpPr>
        <p:spPr>
          <a:xfrm>
            <a:off x="6510528" y="2075688"/>
            <a:ext cx="420624" cy="420624"/>
          </a:xfrm>
          <a:prstGeom prst="ellipse">
            <a:avLst/>
          </a:prstGeom>
          <a:solidFill>
            <a:srgbClr val="EEF6F4"/>
          </a:solidFill>
          <a:ln/>
        </p:spPr>
      </p:sp>
      <p:sp>
        <p:nvSpPr>
          <p:cNvPr id="11" name="Text 9"/>
          <p:cNvSpPr/>
          <p:nvPr/>
        </p:nvSpPr>
        <p:spPr>
          <a:xfrm>
            <a:off x="6510528" y="2075688"/>
            <a:ext cx="420624" cy="420624"/>
          </a:xfrm>
          <a:prstGeom prst="rect">
            <a:avLst/>
          </a:prstGeom>
          <a:noFill/>
          <a:ln/>
        </p:spPr>
        <p:txBody>
          <a:bodyPr wrap="square" lIns="0" tIns="0" rIns="0" bIns="0" rtlCol="0" anchor="ctr"/>
          <a:lstStyle/>
          <a:p>
            <a:pPr algn="ctr" indent="0" marL="0">
              <a:buNone/>
            </a:pPr>
            <a:r>
              <a:rPr lang="en-US" sz="1500" b="1" dirty="0">
                <a:solidFill>
                  <a:srgbClr val="0E6A5C"/>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32320" y="2057400"/>
            <a:ext cx="4114800" cy="365760"/>
          </a:xfrm>
          <a:prstGeom prst="rect">
            <a:avLst/>
          </a:prstGeom>
          <a:noFill/>
          <a:ln/>
        </p:spPr>
        <p:txBody>
          <a:bodyPr wrap="square" lIns="0" tIns="0" rIns="0" bIns="0" rtlCol="0" anchor="ctr"/>
          <a:lstStyle/>
          <a:p>
            <a:pPr indent="0" marL="0">
              <a:buNone/>
            </a:pPr>
            <a:r>
              <a:rPr lang="en-US" sz="1600" b="1" dirty="0">
                <a:solidFill>
                  <a:srgbClr val="16130F"/>
                </a:solidFill>
                <a:latin typeface="Calibri" pitchFamily="34" charset="0"/>
                <a:ea typeface="Calibri" pitchFamily="34" charset="-122"/>
                <a:cs typeface="Calibri" pitchFamily="34" charset="-120"/>
              </a:rPr>
              <a:t>The slot is held instantly</a:t>
            </a:r>
            <a:endParaRPr lang="en-US" sz="1600" dirty="0"/>
          </a:p>
        </p:txBody>
      </p:sp>
      <p:sp>
        <p:nvSpPr>
          <p:cNvPr id="13" name="Text 11"/>
          <p:cNvSpPr/>
          <p:nvPr/>
        </p:nvSpPr>
        <p:spPr>
          <a:xfrm>
            <a:off x="7132320" y="2496312"/>
            <a:ext cx="4114800" cy="82296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Two patients cannot take the same time. The database refuses it, not the screen.</a:t>
            </a:r>
            <a:endParaRPr lang="en-US" sz="1300" dirty="0"/>
          </a:p>
        </p:txBody>
      </p:sp>
      <p:sp>
        <p:nvSpPr>
          <p:cNvPr id="14" name="Shape 12"/>
          <p:cNvSpPr/>
          <p:nvPr/>
        </p:nvSpPr>
        <p:spPr>
          <a:xfrm>
            <a:off x="685800" y="3749040"/>
            <a:ext cx="5257800" cy="1691640"/>
          </a:xfrm>
          <a:prstGeom prst="roundRect">
            <a:avLst>
              <a:gd name="adj" fmla="val 4324"/>
            </a:avLst>
          </a:prstGeom>
          <a:solidFill>
            <a:srgbClr val="FFFFFF"/>
          </a:solidFill>
          <a:ln w="12700">
            <a:solidFill>
              <a:srgbClr val="E7E3D9"/>
            </a:solidFill>
            <a:prstDash val="solid"/>
          </a:ln>
        </p:spPr>
      </p:sp>
      <p:sp>
        <p:nvSpPr>
          <p:cNvPr id="15" name="Shape 13"/>
          <p:cNvSpPr/>
          <p:nvPr/>
        </p:nvSpPr>
        <p:spPr>
          <a:xfrm>
            <a:off x="978408" y="4041648"/>
            <a:ext cx="420624" cy="420624"/>
          </a:xfrm>
          <a:prstGeom prst="ellipse">
            <a:avLst/>
          </a:prstGeom>
          <a:solidFill>
            <a:srgbClr val="EEF6F4"/>
          </a:solidFill>
          <a:ln/>
        </p:spPr>
      </p:sp>
      <p:sp>
        <p:nvSpPr>
          <p:cNvPr id="16" name="Text 14"/>
          <p:cNvSpPr/>
          <p:nvPr/>
        </p:nvSpPr>
        <p:spPr>
          <a:xfrm>
            <a:off x="978408" y="4041648"/>
            <a:ext cx="420624" cy="420624"/>
          </a:xfrm>
          <a:prstGeom prst="rect">
            <a:avLst/>
          </a:prstGeom>
          <a:noFill/>
          <a:ln/>
        </p:spPr>
        <p:txBody>
          <a:bodyPr wrap="square" lIns="0" tIns="0" rIns="0" bIns="0" rtlCol="0" anchor="ctr"/>
          <a:lstStyle/>
          <a:p>
            <a:pPr algn="ctr" indent="0" marL="0">
              <a:buNone/>
            </a:pPr>
            <a:r>
              <a:rPr lang="en-US" sz="1500" b="1" dirty="0">
                <a:solidFill>
                  <a:srgbClr val="0E6A5C"/>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600200" y="4023360"/>
            <a:ext cx="4114800" cy="365760"/>
          </a:xfrm>
          <a:prstGeom prst="rect">
            <a:avLst/>
          </a:prstGeom>
          <a:noFill/>
          <a:ln/>
        </p:spPr>
        <p:txBody>
          <a:bodyPr wrap="square" lIns="0" tIns="0" rIns="0" bIns="0" rtlCol="0" anchor="ctr"/>
          <a:lstStyle/>
          <a:p>
            <a:pPr indent="0" marL="0">
              <a:buNone/>
            </a:pPr>
            <a:r>
              <a:rPr lang="en-US" sz="1600" b="1" dirty="0">
                <a:solidFill>
                  <a:srgbClr val="16130F"/>
                </a:solidFill>
                <a:latin typeface="Calibri" pitchFamily="34" charset="0"/>
                <a:ea typeface="Calibri" pitchFamily="34" charset="-122"/>
                <a:cs typeface="Calibri" pitchFamily="34" charset="-120"/>
              </a:rPr>
              <a:t>Booking for a caller is faster</a:t>
            </a:r>
            <a:endParaRPr lang="en-US" sz="1600" dirty="0"/>
          </a:p>
        </p:txBody>
      </p:sp>
      <p:sp>
        <p:nvSpPr>
          <p:cNvPr id="18" name="Text 16"/>
          <p:cNvSpPr/>
          <p:nvPr/>
        </p:nvSpPr>
        <p:spPr>
          <a:xfrm>
            <a:off x="1600200" y="4462272"/>
            <a:ext cx="4114800" cy="82296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Free times for any doctor on any day, one tap, and a reference to read back.</a:t>
            </a:r>
            <a:endParaRPr lang="en-US" sz="1300" dirty="0"/>
          </a:p>
        </p:txBody>
      </p:sp>
      <p:sp>
        <p:nvSpPr>
          <p:cNvPr id="19" name="Shape 17"/>
          <p:cNvSpPr/>
          <p:nvPr/>
        </p:nvSpPr>
        <p:spPr>
          <a:xfrm>
            <a:off x="6217920" y="3749040"/>
            <a:ext cx="5257800" cy="1691640"/>
          </a:xfrm>
          <a:prstGeom prst="roundRect">
            <a:avLst>
              <a:gd name="adj" fmla="val 4324"/>
            </a:avLst>
          </a:prstGeom>
          <a:solidFill>
            <a:srgbClr val="FFFFFF"/>
          </a:solidFill>
          <a:ln w="12700">
            <a:solidFill>
              <a:srgbClr val="E7E3D9"/>
            </a:solidFill>
            <a:prstDash val="solid"/>
          </a:ln>
        </p:spPr>
      </p:sp>
      <p:sp>
        <p:nvSpPr>
          <p:cNvPr id="20" name="Shape 18"/>
          <p:cNvSpPr/>
          <p:nvPr/>
        </p:nvSpPr>
        <p:spPr>
          <a:xfrm>
            <a:off x="6510528" y="4041648"/>
            <a:ext cx="420624" cy="420624"/>
          </a:xfrm>
          <a:prstGeom prst="ellipse">
            <a:avLst/>
          </a:prstGeom>
          <a:solidFill>
            <a:srgbClr val="EEF6F4"/>
          </a:solidFill>
          <a:ln/>
        </p:spPr>
      </p:sp>
      <p:sp>
        <p:nvSpPr>
          <p:cNvPr id="21" name="Text 19"/>
          <p:cNvSpPr/>
          <p:nvPr/>
        </p:nvSpPr>
        <p:spPr>
          <a:xfrm>
            <a:off x="6510528" y="4041648"/>
            <a:ext cx="420624" cy="420624"/>
          </a:xfrm>
          <a:prstGeom prst="rect">
            <a:avLst/>
          </a:prstGeom>
          <a:noFill/>
          <a:ln/>
        </p:spPr>
        <p:txBody>
          <a:bodyPr wrap="square" lIns="0" tIns="0" rIns="0" bIns="0" rtlCol="0" anchor="ctr"/>
          <a:lstStyle/>
          <a:p>
            <a:pPr algn="ctr" indent="0" marL="0">
              <a:buNone/>
            </a:pPr>
            <a:r>
              <a:rPr lang="en-US" sz="1500" b="1" dirty="0">
                <a:solidFill>
                  <a:srgbClr val="0E6A5C"/>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32320" y="4023360"/>
            <a:ext cx="4114800" cy="365760"/>
          </a:xfrm>
          <a:prstGeom prst="rect">
            <a:avLst/>
          </a:prstGeom>
          <a:noFill/>
          <a:ln/>
        </p:spPr>
        <p:txBody>
          <a:bodyPr wrap="square" lIns="0" tIns="0" rIns="0" bIns="0" rtlCol="0" anchor="ctr"/>
          <a:lstStyle/>
          <a:p>
            <a:pPr indent="0" marL="0">
              <a:buNone/>
            </a:pPr>
            <a:r>
              <a:rPr lang="en-US" sz="1600" b="1" dirty="0">
                <a:solidFill>
                  <a:srgbClr val="16130F"/>
                </a:solidFill>
                <a:latin typeface="Calibri" pitchFamily="34" charset="0"/>
                <a:ea typeface="Calibri" pitchFamily="34" charset="-122"/>
                <a:cs typeface="Calibri" pitchFamily="34" charset="-120"/>
              </a:rPr>
              <a:t>The patient gets it in writing</a:t>
            </a:r>
            <a:endParaRPr lang="en-US" sz="1600" dirty="0"/>
          </a:p>
        </p:txBody>
      </p:sp>
      <p:sp>
        <p:nvSpPr>
          <p:cNvPr id="23" name="Text 21"/>
          <p:cNvSpPr/>
          <p:nvPr/>
        </p:nvSpPr>
        <p:spPr>
          <a:xfrm>
            <a:off x="7132320" y="4462272"/>
            <a:ext cx="4114800" cy="82296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One tap sends the appointment by WhatsApp, in the patient’s own language.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2B26"/>
        </a:solidFill>
      </p:bgPr>
    </p:bg>
    <p:spTree>
      <p:nvGrpSpPr>
        <p:cNvPr id="1" name=""/>
        <p:cNvGrpSpPr/>
        <p:nvPr/>
      </p:nvGrpSpPr>
      <p:grpSpPr>
        <a:xfrm>
          <a:off x="0" y="0"/>
          <a:ext cx="0" cy="0"/>
          <a:chOff x="0" y="0"/>
          <a:chExt cx="0" cy="0"/>
        </a:xfrm>
      </p:grpSpPr>
      <p:sp>
        <p:nvSpPr>
          <p:cNvPr id="2" name="Text 0"/>
          <p:cNvSpPr/>
          <p:nvPr/>
        </p:nvSpPr>
        <p:spPr>
          <a:xfrm>
            <a:off x="685800" y="411480"/>
            <a:ext cx="7315200" cy="256032"/>
          </a:xfrm>
          <a:prstGeom prst="rect">
            <a:avLst/>
          </a:prstGeom>
          <a:noFill/>
          <a:ln/>
        </p:spPr>
        <p:txBody>
          <a:bodyPr wrap="square" lIns="0" tIns="0" rIns="0" bIns="0" rtlCol="0" anchor="ctr"/>
          <a:lstStyle/>
          <a:p>
            <a:pPr indent="0" marL="0">
              <a:buNone/>
            </a:pPr>
            <a:r>
              <a:rPr lang="en-US" sz="1100" b="1" spc="200" kern="0" dirty="0">
                <a:solidFill>
                  <a:srgbClr val="A6CE39"/>
                </a:solidFill>
                <a:latin typeface="Calibri" pitchFamily="34" charset="0"/>
                <a:ea typeface="Calibri" pitchFamily="34" charset="-122"/>
                <a:cs typeface="Calibri" pitchFamily="34" charset="-120"/>
              </a:rPr>
              <a:t>HOW IT WORKS</a:t>
            </a:r>
            <a:endParaRPr lang="en-US" sz="1100" dirty="0"/>
          </a:p>
        </p:txBody>
      </p:sp>
      <p:sp>
        <p:nvSpPr>
          <p:cNvPr id="3" name="Text 1"/>
          <p:cNvSpPr/>
          <p:nvPr/>
        </p:nvSpPr>
        <p:spPr>
          <a:xfrm>
            <a:off x="685800" y="713232"/>
            <a:ext cx="9144000" cy="6858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pieces, and a phone</a:t>
            </a:r>
            <a:endParaRPr lang="en-US" sz="3400" dirty="0"/>
          </a:p>
        </p:txBody>
      </p:sp>
      <p:sp>
        <p:nvSpPr>
          <p:cNvPr id="4" name="Shape 2"/>
          <p:cNvSpPr/>
          <p:nvPr/>
        </p:nvSpPr>
        <p:spPr>
          <a:xfrm>
            <a:off x="297180" y="1965960"/>
            <a:ext cx="2514600" cy="2286000"/>
          </a:xfrm>
          <a:prstGeom prst="roundRect">
            <a:avLst>
              <a:gd name="adj" fmla="val 3200"/>
            </a:avLst>
          </a:prstGeom>
          <a:solidFill>
            <a:srgbClr val="0C2621"/>
          </a:solidFill>
          <a:ln w="19050">
            <a:solidFill>
              <a:srgbClr val="1E4A43"/>
            </a:solidFill>
            <a:prstDash val="solid"/>
          </a:ln>
        </p:spPr>
      </p:sp>
      <p:sp>
        <p:nvSpPr>
          <p:cNvPr id="5" name="Text 3"/>
          <p:cNvSpPr/>
          <p:nvPr/>
        </p:nvSpPr>
        <p:spPr>
          <a:xfrm>
            <a:off x="516636" y="2240280"/>
            <a:ext cx="2075688"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phone</a:t>
            </a:r>
            <a:endParaRPr lang="en-US" sz="2000" dirty="0"/>
          </a:p>
        </p:txBody>
      </p:sp>
      <p:sp>
        <p:nvSpPr>
          <p:cNvPr id="6" name="Text 4"/>
          <p:cNvSpPr/>
          <p:nvPr/>
        </p:nvSpPr>
        <p:spPr>
          <a:xfrm>
            <a:off x="516636" y="2679192"/>
            <a:ext cx="2075688" cy="502920"/>
          </a:xfrm>
          <a:prstGeom prst="rect">
            <a:avLst/>
          </a:prstGeom>
          <a:noFill/>
          <a:ln/>
        </p:spPr>
        <p:txBody>
          <a:bodyPr wrap="square" lIns="0" tIns="0" rIns="0" bIns="0" rtlCol="0" anchor="ctr"/>
          <a:lstStyle/>
          <a:p>
            <a:pPr indent="0" marL="0">
              <a:lnSpc>
                <a:spcPts val="1600"/>
              </a:lnSpc>
              <a:buNone/>
            </a:pPr>
            <a:r>
              <a:rPr lang="en-US" sz="1200" b="1" dirty="0">
                <a:solidFill>
                  <a:srgbClr val="A6CE39"/>
                </a:solidFill>
                <a:latin typeface="Calibri" pitchFamily="34" charset="0"/>
                <a:ea typeface="Calibri" pitchFamily="34" charset="-122"/>
                <a:cs typeface="Calibri" pitchFamily="34" charset="-120"/>
              </a:rPr>
              <a:t>A patient in Trichy</a:t>
            </a:r>
            <a:endParaRPr lang="en-US" sz="1200" dirty="0"/>
          </a:p>
        </p:txBody>
      </p:sp>
      <p:sp>
        <p:nvSpPr>
          <p:cNvPr id="7" name="Text 5"/>
          <p:cNvSpPr/>
          <p:nvPr/>
        </p:nvSpPr>
        <p:spPr>
          <a:xfrm>
            <a:off x="516636" y="3264408"/>
            <a:ext cx="2075688" cy="868680"/>
          </a:xfrm>
          <a:prstGeom prst="rect">
            <a:avLst/>
          </a:prstGeom>
          <a:noFill/>
          <a:ln/>
        </p:spPr>
        <p:txBody>
          <a:bodyPr wrap="square" lIns="0" tIns="0" rIns="0" bIns="0" rtlCol="0" anchor="ctr"/>
          <a:lstStyle/>
          <a:p>
            <a:pPr indent="0" marL="0">
              <a:lnSpc>
                <a:spcPts val="1700"/>
              </a:lnSpc>
              <a:buNone/>
            </a:pPr>
            <a:r>
              <a:rPr lang="en-US" sz="1200" dirty="0">
                <a:solidFill>
                  <a:srgbClr val="72B7AB"/>
                </a:solidFill>
                <a:latin typeface="Calibri" pitchFamily="34" charset="0"/>
                <a:ea typeface="Calibri" pitchFamily="34" charset="-122"/>
                <a:cs typeface="Calibri" pitchFamily="34" charset="-120"/>
              </a:rPr>
              <a:t>Any browser. Nothing to install.</a:t>
            </a:r>
            <a:endParaRPr lang="en-US" sz="1200" dirty="0"/>
          </a:p>
        </p:txBody>
      </p:sp>
      <p:sp>
        <p:nvSpPr>
          <p:cNvPr id="8" name="Shape 6"/>
          <p:cNvSpPr/>
          <p:nvPr/>
        </p:nvSpPr>
        <p:spPr>
          <a:xfrm>
            <a:off x="2884932" y="2962656"/>
            <a:ext cx="356616" cy="292608"/>
          </a:xfrm>
          <a:prstGeom prst="rightArrow">
            <a:avLst/>
          </a:prstGeom>
          <a:solidFill>
            <a:srgbClr val="A6CE39"/>
          </a:solidFill>
          <a:ln w="12700">
            <a:solidFill>
              <a:srgbClr val="A6CE39"/>
            </a:solidFill>
            <a:prstDash val="solid"/>
          </a:ln>
        </p:spPr>
      </p:sp>
      <p:sp>
        <p:nvSpPr>
          <p:cNvPr id="9" name="Shape 7"/>
          <p:cNvSpPr/>
          <p:nvPr/>
        </p:nvSpPr>
        <p:spPr>
          <a:xfrm>
            <a:off x="3314700" y="1965960"/>
            <a:ext cx="2514600" cy="2286000"/>
          </a:xfrm>
          <a:prstGeom prst="roundRect">
            <a:avLst>
              <a:gd name="adj" fmla="val 3200"/>
            </a:avLst>
          </a:prstGeom>
          <a:solidFill>
            <a:srgbClr val="0A3A33"/>
          </a:solidFill>
          <a:ln w="19050">
            <a:solidFill>
              <a:srgbClr val="0E6A5C"/>
            </a:solidFill>
            <a:prstDash val="solid"/>
          </a:ln>
        </p:spPr>
      </p:sp>
      <p:sp>
        <p:nvSpPr>
          <p:cNvPr id="10" name="Text 8"/>
          <p:cNvSpPr/>
          <p:nvPr/>
        </p:nvSpPr>
        <p:spPr>
          <a:xfrm>
            <a:off x="3534156" y="2240280"/>
            <a:ext cx="2075688"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website</a:t>
            </a:r>
            <a:endParaRPr lang="en-US" sz="2000" dirty="0"/>
          </a:p>
        </p:txBody>
      </p:sp>
      <p:sp>
        <p:nvSpPr>
          <p:cNvPr id="11" name="Text 9"/>
          <p:cNvSpPr/>
          <p:nvPr/>
        </p:nvSpPr>
        <p:spPr>
          <a:xfrm>
            <a:off x="3534156" y="2679192"/>
            <a:ext cx="2075688" cy="502920"/>
          </a:xfrm>
          <a:prstGeom prst="rect">
            <a:avLst/>
          </a:prstGeom>
          <a:noFill/>
          <a:ln/>
        </p:spPr>
        <p:txBody>
          <a:bodyPr wrap="square" lIns="0" tIns="0" rIns="0" bIns="0" rtlCol="0" anchor="ctr"/>
          <a:lstStyle/>
          <a:p>
            <a:pPr indent="0" marL="0">
              <a:lnSpc>
                <a:spcPts val="1600"/>
              </a:lnSpc>
              <a:buNone/>
            </a:pPr>
            <a:r>
              <a:rPr lang="en-US" sz="1200" b="1" dirty="0">
                <a:solidFill>
                  <a:srgbClr val="A6CE39"/>
                </a:solidFill>
                <a:latin typeface="Calibri" pitchFamily="34" charset="0"/>
                <a:ea typeface="Calibri" pitchFamily="34" charset="-122"/>
                <a:cs typeface="Calibri" pitchFamily="34" charset="-120"/>
              </a:rPr>
              <a:t>What they see and touch</a:t>
            </a:r>
            <a:endParaRPr lang="en-US" sz="1200" dirty="0"/>
          </a:p>
        </p:txBody>
      </p:sp>
      <p:sp>
        <p:nvSpPr>
          <p:cNvPr id="12" name="Text 10"/>
          <p:cNvSpPr/>
          <p:nvPr/>
        </p:nvSpPr>
        <p:spPr>
          <a:xfrm>
            <a:off x="3534156" y="3264408"/>
            <a:ext cx="2075688" cy="868680"/>
          </a:xfrm>
          <a:prstGeom prst="rect">
            <a:avLst/>
          </a:prstGeom>
          <a:noFill/>
          <a:ln/>
        </p:spPr>
        <p:txBody>
          <a:bodyPr wrap="square" lIns="0" tIns="0" rIns="0" bIns="0" rtlCol="0" anchor="ctr"/>
          <a:lstStyle/>
          <a:p>
            <a:pPr indent="0" marL="0">
              <a:lnSpc>
                <a:spcPts val="1700"/>
              </a:lnSpc>
              <a:buNone/>
            </a:pPr>
            <a:r>
              <a:rPr lang="en-US" sz="1200" dirty="0">
                <a:solidFill>
                  <a:srgbClr val="72B7AB"/>
                </a:solidFill>
                <a:latin typeface="Calibri" pitchFamily="34" charset="0"/>
                <a:ea typeface="Calibri" pitchFamily="34" charset="-122"/>
                <a:cs typeface="Calibri" pitchFamily="34" charset="-120"/>
              </a:rPr>
              <a:t>Pages, the booking form, three languages.</a:t>
            </a:r>
            <a:endParaRPr lang="en-US" sz="1200" dirty="0"/>
          </a:p>
        </p:txBody>
      </p:sp>
      <p:sp>
        <p:nvSpPr>
          <p:cNvPr id="13" name="Shape 11"/>
          <p:cNvSpPr/>
          <p:nvPr/>
        </p:nvSpPr>
        <p:spPr>
          <a:xfrm>
            <a:off x="5902452" y="2962656"/>
            <a:ext cx="356616" cy="292608"/>
          </a:xfrm>
          <a:prstGeom prst="rightArrow">
            <a:avLst/>
          </a:prstGeom>
          <a:solidFill>
            <a:srgbClr val="A6CE39"/>
          </a:solidFill>
          <a:ln w="12700">
            <a:solidFill>
              <a:srgbClr val="A6CE39"/>
            </a:solidFill>
            <a:prstDash val="solid"/>
          </a:ln>
        </p:spPr>
      </p:sp>
      <p:sp>
        <p:nvSpPr>
          <p:cNvPr id="14" name="Shape 12"/>
          <p:cNvSpPr/>
          <p:nvPr/>
        </p:nvSpPr>
        <p:spPr>
          <a:xfrm>
            <a:off x="6332220" y="1965960"/>
            <a:ext cx="2514600" cy="2286000"/>
          </a:xfrm>
          <a:prstGeom prst="roundRect">
            <a:avLst>
              <a:gd name="adj" fmla="val 3200"/>
            </a:avLst>
          </a:prstGeom>
          <a:solidFill>
            <a:srgbClr val="0A3A33"/>
          </a:solidFill>
          <a:ln w="19050">
            <a:solidFill>
              <a:srgbClr val="0E6A5C"/>
            </a:solidFill>
            <a:prstDash val="solid"/>
          </a:ln>
        </p:spPr>
      </p:sp>
      <p:sp>
        <p:nvSpPr>
          <p:cNvPr id="15" name="Text 13"/>
          <p:cNvSpPr/>
          <p:nvPr/>
        </p:nvSpPr>
        <p:spPr>
          <a:xfrm>
            <a:off x="6551676" y="2240280"/>
            <a:ext cx="2075688"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server</a:t>
            </a:r>
            <a:endParaRPr lang="en-US" sz="2000" dirty="0"/>
          </a:p>
        </p:txBody>
      </p:sp>
      <p:sp>
        <p:nvSpPr>
          <p:cNvPr id="16" name="Text 14"/>
          <p:cNvSpPr/>
          <p:nvPr/>
        </p:nvSpPr>
        <p:spPr>
          <a:xfrm>
            <a:off x="6551676" y="2679192"/>
            <a:ext cx="2075688" cy="502920"/>
          </a:xfrm>
          <a:prstGeom prst="rect">
            <a:avLst/>
          </a:prstGeom>
          <a:noFill/>
          <a:ln/>
        </p:spPr>
        <p:txBody>
          <a:bodyPr wrap="square" lIns="0" tIns="0" rIns="0" bIns="0" rtlCol="0" anchor="ctr"/>
          <a:lstStyle/>
          <a:p>
            <a:pPr indent="0" marL="0">
              <a:lnSpc>
                <a:spcPts val="1600"/>
              </a:lnSpc>
              <a:buNone/>
            </a:pPr>
            <a:r>
              <a:rPr lang="en-US" sz="1200" b="1" dirty="0">
                <a:solidFill>
                  <a:srgbClr val="A6CE39"/>
                </a:solidFill>
                <a:latin typeface="Calibri" pitchFamily="34" charset="0"/>
                <a:ea typeface="Calibri" pitchFamily="34" charset="-122"/>
                <a:cs typeface="Calibri" pitchFamily="34" charset="-120"/>
              </a:rPr>
              <a:t>A small computer that never sleeps</a:t>
            </a:r>
            <a:endParaRPr lang="en-US" sz="1200" dirty="0"/>
          </a:p>
        </p:txBody>
      </p:sp>
      <p:sp>
        <p:nvSpPr>
          <p:cNvPr id="17" name="Text 15"/>
          <p:cNvSpPr/>
          <p:nvPr/>
        </p:nvSpPr>
        <p:spPr>
          <a:xfrm>
            <a:off x="6551676" y="3264408"/>
            <a:ext cx="2075688" cy="868680"/>
          </a:xfrm>
          <a:prstGeom prst="rect">
            <a:avLst/>
          </a:prstGeom>
          <a:noFill/>
          <a:ln/>
        </p:spPr>
        <p:txBody>
          <a:bodyPr wrap="square" lIns="0" tIns="0" rIns="0" bIns="0" rtlCol="0" anchor="ctr"/>
          <a:lstStyle/>
          <a:p>
            <a:pPr indent="0" marL="0">
              <a:lnSpc>
                <a:spcPts val="1700"/>
              </a:lnSpc>
              <a:buNone/>
            </a:pPr>
            <a:r>
              <a:rPr lang="en-US" sz="1200" dirty="0">
                <a:solidFill>
                  <a:srgbClr val="72B7AB"/>
                </a:solidFill>
                <a:latin typeface="Calibri" pitchFamily="34" charset="0"/>
                <a:ea typeface="Calibri" pitchFamily="34" charset="-122"/>
                <a:cs typeface="Calibri" pitchFamily="34" charset="-120"/>
              </a:rPr>
              <a:t>Decides who gets which slot. Checks everything.</a:t>
            </a:r>
            <a:endParaRPr lang="en-US" sz="1200" dirty="0"/>
          </a:p>
        </p:txBody>
      </p:sp>
      <p:sp>
        <p:nvSpPr>
          <p:cNvPr id="18" name="Shape 16"/>
          <p:cNvSpPr/>
          <p:nvPr/>
        </p:nvSpPr>
        <p:spPr>
          <a:xfrm>
            <a:off x="8919972" y="2962656"/>
            <a:ext cx="356616" cy="292608"/>
          </a:xfrm>
          <a:prstGeom prst="rightArrow">
            <a:avLst/>
          </a:prstGeom>
          <a:solidFill>
            <a:srgbClr val="A6CE39"/>
          </a:solidFill>
          <a:ln w="12700">
            <a:solidFill>
              <a:srgbClr val="A6CE39"/>
            </a:solidFill>
            <a:prstDash val="solid"/>
          </a:ln>
        </p:spPr>
      </p:sp>
      <p:sp>
        <p:nvSpPr>
          <p:cNvPr id="19" name="Shape 17"/>
          <p:cNvSpPr/>
          <p:nvPr/>
        </p:nvSpPr>
        <p:spPr>
          <a:xfrm>
            <a:off x="9349740" y="1965960"/>
            <a:ext cx="2514600" cy="2286000"/>
          </a:xfrm>
          <a:prstGeom prst="roundRect">
            <a:avLst>
              <a:gd name="adj" fmla="val 3200"/>
            </a:avLst>
          </a:prstGeom>
          <a:solidFill>
            <a:srgbClr val="0A3A33"/>
          </a:solidFill>
          <a:ln w="19050">
            <a:solidFill>
              <a:srgbClr val="0E6A5C"/>
            </a:solidFill>
            <a:prstDash val="solid"/>
          </a:ln>
        </p:spPr>
      </p:sp>
      <p:sp>
        <p:nvSpPr>
          <p:cNvPr id="20" name="Text 18"/>
          <p:cNvSpPr/>
          <p:nvPr/>
        </p:nvSpPr>
        <p:spPr>
          <a:xfrm>
            <a:off x="9569196" y="2240280"/>
            <a:ext cx="2075688"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database</a:t>
            </a:r>
            <a:endParaRPr lang="en-US" sz="2000" dirty="0"/>
          </a:p>
        </p:txBody>
      </p:sp>
      <p:sp>
        <p:nvSpPr>
          <p:cNvPr id="21" name="Text 19"/>
          <p:cNvSpPr/>
          <p:nvPr/>
        </p:nvSpPr>
        <p:spPr>
          <a:xfrm>
            <a:off x="9569196" y="2679192"/>
            <a:ext cx="2075688" cy="502920"/>
          </a:xfrm>
          <a:prstGeom prst="rect">
            <a:avLst/>
          </a:prstGeom>
          <a:noFill/>
          <a:ln/>
        </p:spPr>
        <p:txBody>
          <a:bodyPr wrap="square" lIns="0" tIns="0" rIns="0" bIns="0" rtlCol="0" anchor="ctr"/>
          <a:lstStyle/>
          <a:p>
            <a:pPr indent="0" marL="0">
              <a:lnSpc>
                <a:spcPts val="1600"/>
              </a:lnSpc>
              <a:buNone/>
            </a:pPr>
            <a:r>
              <a:rPr lang="en-US" sz="1200" b="1" dirty="0">
                <a:solidFill>
                  <a:srgbClr val="A6CE39"/>
                </a:solidFill>
                <a:latin typeface="Calibri" pitchFamily="34" charset="0"/>
                <a:ea typeface="Calibri" pitchFamily="34" charset="-122"/>
                <a:cs typeface="Calibri" pitchFamily="34" charset="-120"/>
              </a:rPr>
              <a:t>One file that remembers</a:t>
            </a:r>
            <a:endParaRPr lang="en-US" sz="1200" dirty="0"/>
          </a:p>
        </p:txBody>
      </p:sp>
      <p:sp>
        <p:nvSpPr>
          <p:cNvPr id="22" name="Text 20"/>
          <p:cNvSpPr/>
          <p:nvPr/>
        </p:nvSpPr>
        <p:spPr>
          <a:xfrm>
            <a:off x="9569196" y="3264408"/>
            <a:ext cx="2075688" cy="868680"/>
          </a:xfrm>
          <a:prstGeom prst="rect">
            <a:avLst/>
          </a:prstGeom>
          <a:noFill/>
          <a:ln/>
        </p:spPr>
        <p:txBody>
          <a:bodyPr wrap="square" lIns="0" tIns="0" rIns="0" bIns="0" rtlCol="0" anchor="ctr"/>
          <a:lstStyle/>
          <a:p>
            <a:pPr indent="0" marL="0">
              <a:lnSpc>
                <a:spcPts val="1700"/>
              </a:lnSpc>
              <a:buNone/>
            </a:pPr>
            <a:r>
              <a:rPr lang="en-US" sz="1200" dirty="0">
                <a:solidFill>
                  <a:srgbClr val="72B7AB"/>
                </a:solidFill>
                <a:latin typeface="Calibri" pitchFamily="34" charset="0"/>
                <a:ea typeface="Calibri" pitchFamily="34" charset="-122"/>
                <a:cs typeface="Calibri" pitchFamily="34" charset="-120"/>
              </a:rPr>
              <a:t>Every appointment, doctor, fee and hour.</a:t>
            </a:r>
            <a:endParaRPr lang="en-US" sz="1200" dirty="0"/>
          </a:p>
        </p:txBody>
      </p:sp>
      <p:sp>
        <p:nvSpPr>
          <p:cNvPr id="23" name="Text 21"/>
          <p:cNvSpPr/>
          <p:nvPr/>
        </p:nvSpPr>
        <p:spPr>
          <a:xfrm>
            <a:off x="685800" y="4663440"/>
            <a:ext cx="10789920" cy="365760"/>
          </a:xfrm>
          <a:prstGeom prst="rect">
            <a:avLst/>
          </a:prstGeom>
          <a:noFill/>
          <a:ln/>
        </p:spPr>
        <p:txBody>
          <a:bodyPr wrap="square" lIns="0" tIns="0" rIns="0" bIns="0" rtlCol="0" anchor="ctr"/>
          <a:lstStyle/>
          <a:p>
            <a:pPr algn="ctr" indent="0" marL="0">
              <a:buNone/>
            </a:pPr>
            <a:r>
              <a:rPr lang="en-US" sz="1500" dirty="0">
                <a:solidFill>
                  <a:srgbClr val="72B7AB"/>
                </a:solidFill>
                <a:latin typeface="Calibri" pitchFamily="34" charset="0"/>
                <a:ea typeface="Calibri" pitchFamily="34" charset="-122"/>
                <a:cs typeface="Calibri" pitchFamily="34" charset="-120"/>
              </a:rPr>
              <a:t>A booking travels left to right, and the answer comes back the same way — in under a second.</a:t>
            </a:r>
            <a:endParaRPr lang="en-US" sz="1500" dirty="0"/>
          </a:p>
        </p:txBody>
      </p:sp>
      <p:sp>
        <p:nvSpPr>
          <p:cNvPr id="24" name="Shape 22"/>
          <p:cNvSpPr/>
          <p:nvPr/>
        </p:nvSpPr>
        <p:spPr>
          <a:xfrm>
            <a:off x="297180" y="5230368"/>
            <a:ext cx="11567160" cy="868680"/>
          </a:xfrm>
          <a:prstGeom prst="roundRect">
            <a:avLst>
              <a:gd name="adj" fmla="val 6316"/>
            </a:avLst>
          </a:prstGeom>
          <a:solidFill>
            <a:srgbClr val="0A3A33"/>
          </a:solidFill>
          <a:ln w="12700">
            <a:solidFill>
              <a:srgbClr val="1E4A43"/>
            </a:solidFill>
            <a:prstDash val="solid"/>
          </a:ln>
        </p:spPr>
      </p:sp>
      <p:sp>
        <p:nvSpPr>
          <p:cNvPr id="25" name="Text 23"/>
          <p:cNvSpPr/>
          <p:nvPr/>
        </p:nvSpPr>
        <p:spPr>
          <a:xfrm>
            <a:off x="617220" y="5394960"/>
            <a:ext cx="10927080" cy="548640"/>
          </a:xfrm>
          <a:prstGeom prst="rect">
            <a:avLst/>
          </a:prstGeom>
          <a:noFill/>
          <a:ln/>
        </p:spPr>
        <p:txBody>
          <a:bodyPr wrap="square" lIns="0" tIns="0" rIns="0" bIns="0" rtlCol="0" anchor="ctr"/>
          <a:lstStyle/>
          <a:p>
            <a:pPr algn="ctr" indent="0" marL="0">
              <a:buNone/>
            </a:pPr>
            <a:r>
              <a:rPr lang="en-US" sz="1500" i="1" dirty="0">
                <a:solidFill>
                  <a:srgbClr val="FFFFFF"/>
                </a:solidFill>
                <a:latin typeface="Cambria" pitchFamily="34" charset="0"/>
                <a:ea typeface="Cambria" pitchFamily="34" charset="-122"/>
                <a:cs typeface="Cambria" pitchFamily="34" charset="-120"/>
              </a:rPr>
              <a:t>The website is the shopfront. The server is the person behind the counter who checks the diary. The database is the diary itself.</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THE SAME THREE PIECES, WORKING</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Follow one booking, start to finish</a:t>
            </a:r>
            <a:endParaRPr lang="en-US" sz="3400" dirty="0"/>
          </a:p>
        </p:txBody>
      </p:sp>
      <p:sp>
        <p:nvSpPr>
          <p:cNvPr id="4" name="Shape 2"/>
          <p:cNvSpPr/>
          <p:nvPr/>
        </p:nvSpPr>
        <p:spPr>
          <a:xfrm>
            <a:off x="685800" y="1691640"/>
            <a:ext cx="5257800" cy="1115568"/>
          </a:xfrm>
          <a:prstGeom prst="roundRect">
            <a:avLst>
              <a:gd name="adj" fmla="val 4918"/>
            </a:avLst>
          </a:prstGeom>
          <a:solidFill>
            <a:srgbClr val="FFFFFF"/>
          </a:solidFill>
          <a:ln w="12700">
            <a:solidFill>
              <a:srgbClr val="E7E3D9"/>
            </a:solidFill>
            <a:prstDash val="solid"/>
          </a:ln>
        </p:spPr>
      </p:sp>
      <p:sp>
        <p:nvSpPr>
          <p:cNvPr id="5" name="Shape 3"/>
          <p:cNvSpPr/>
          <p:nvPr/>
        </p:nvSpPr>
        <p:spPr>
          <a:xfrm>
            <a:off x="941832" y="1947672"/>
            <a:ext cx="402336" cy="402336"/>
          </a:xfrm>
          <a:prstGeom prst="ellipse">
            <a:avLst/>
          </a:prstGeom>
          <a:solidFill>
            <a:srgbClr val="0E6A5C"/>
          </a:solidFill>
          <a:ln/>
        </p:spPr>
      </p:sp>
      <p:sp>
        <p:nvSpPr>
          <p:cNvPr id="6" name="Text 4"/>
          <p:cNvSpPr/>
          <p:nvPr/>
        </p:nvSpPr>
        <p:spPr>
          <a:xfrm>
            <a:off x="941832"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527048" y="1837944"/>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11pm</a:t>
            </a:r>
            <a:endParaRPr lang="en-US" sz="1450" dirty="0"/>
          </a:p>
        </p:txBody>
      </p:sp>
      <p:sp>
        <p:nvSpPr>
          <p:cNvPr id="8" name="Text 6"/>
          <p:cNvSpPr/>
          <p:nvPr/>
        </p:nvSpPr>
        <p:spPr>
          <a:xfrm>
            <a:off x="1527048" y="2130552"/>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A woman in Trichy opens the site on her phone. Her phone downloads the website — pictures, words and buttons. It holds no records at all.</a:t>
            </a:r>
            <a:endParaRPr lang="en-US" sz="1150" dirty="0"/>
          </a:p>
        </p:txBody>
      </p:sp>
      <p:sp>
        <p:nvSpPr>
          <p:cNvPr id="9" name="Shape 7"/>
          <p:cNvSpPr/>
          <p:nvPr/>
        </p:nvSpPr>
        <p:spPr>
          <a:xfrm>
            <a:off x="6217920" y="1691640"/>
            <a:ext cx="5257800" cy="1115568"/>
          </a:xfrm>
          <a:prstGeom prst="roundRect">
            <a:avLst>
              <a:gd name="adj" fmla="val 4918"/>
            </a:avLst>
          </a:prstGeom>
          <a:solidFill>
            <a:srgbClr val="FFFFFF"/>
          </a:solidFill>
          <a:ln w="12700">
            <a:solidFill>
              <a:srgbClr val="E7E3D9"/>
            </a:solidFill>
            <a:prstDash val="solid"/>
          </a:ln>
        </p:spPr>
      </p:sp>
      <p:sp>
        <p:nvSpPr>
          <p:cNvPr id="10" name="Shape 8"/>
          <p:cNvSpPr/>
          <p:nvPr/>
        </p:nvSpPr>
        <p:spPr>
          <a:xfrm>
            <a:off x="6473952" y="1947672"/>
            <a:ext cx="402336" cy="402336"/>
          </a:xfrm>
          <a:prstGeom prst="ellipse">
            <a:avLst/>
          </a:prstGeom>
          <a:solidFill>
            <a:srgbClr val="0E6A5C"/>
          </a:solidFill>
          <a:ln/>
        </p:spPr>
      </p:sp>
      <p:sp>
        <p:nvSpPr>
          <p:cNvPr id="11" name="Text 9"/>
          <p:cNvSpPr/>
          <p:nvPr/>
        </p:nvSpPr>
        <p:spPr>
          <a:xfrm>
            <a:off x="6473952"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59168" y="1837944"/>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She taps Orthopaedics</a:t>
            </a:r>
            <a:endParaRPr lang="en-US" sz="1450" dirty="0"/>
          </a:p>
        </p:txBody>
      </p:sp>
      <p:sp>
        <p:nvSpPr>
          <p:cNvPr id="13" name="Text 11"/>
          <p:cNvSpPr/>
          <p:nvPr/>
        </p:nvSpPr>
        <p:spPr>
          <a:xfrm>
            <a:off x="7059168" y="2130552"/>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Her phone cannot answer “which times is Dr Deepan free on Thursday?” by itself, so it asks the server.</a:t>
            </a:r>
            <a:endParaRPr lang="en-US" sz="1150" dirty="0"/>
          </a:p>
        </p:txBody>
      </p:sp>
      <p:sp>
        <p:nvSpPr>
          <p:cNvPr id="14" name="Shape 12"/>
          <p:cNvSpPr/>
          <p:nvPr/>
        </p:nvSpPr>
        <p:spPr>
          <a:xfrm>
            <a:off x="685800" y="2990088"/>
            <a:ext cx="5257800" cy="1115568"/>
          </a:xfrm>
          <a:prstGeom prst="roundRect">
            <a:avLst>
              <a:gd name="adj" fmla="val 4918"/>
            </a:avLst>
          </a:prstGeom>
          <a:solidFill>
            <a:srgbClr val="FFFFFF"/>
          </a:solidFill>
          <a:ln w="12700">
            <a:solidFill>
              <a:srgbClr val="E7E3D9"/>
            </a:solidFill>
            <a:prstDash val="solid"/>
          </a:ln>
        </p:spPr>
      </p:sp>
      <p:sp>
        <p:nvSpPr>
          <p:cNvPr id="15" name="Shape 13"/>
          <p:cNvSpPr/>
          <p:nvPr/>
        </p:nvSpPr>
        <p:spPr>
          <a:xfrm>
            <a:off x="941832" y="3246120"/>
            <a:ext cx="402336" cy="402336"/>
          </a:xfrm>
          <a:prstGeom prst="ellipse">
            <a:avLst/>
          </a:prstGeom>
          <a:solidFill>
            <a:srgbClr val="0E6A5C"/>
          </a:solidFill>
          <a:ln/>
        </p:spPr>
      </p:sp>
      <p:sp>
        <p:nvSpPr>
          <p:cNvPr id="16" name="Text 14"/>
          <p:cNvSpPr/>
          <p:nvPr/>
        </p:nvSpPr>
        <p:spPr>
          <a:xfrm>
            <a:off x="941832" y="3246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527048" y="3136392"/>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The server looks in the diary</a:t>
            </a:r>
            <a:endParaRPr lang="en-US" sz="1450" dirty="0"/>
          </a:p>
        </p:txBody>
      </p:sp>
      <p:sp>
        <p:nvSpPr>
          <p:cNvPr id="18" name="Text 16"/>
          <p:cNvSpPr/>
          <p:nvPr/>
        </p:nvSpPr>
        <p:spPr>
          <a:xfrm>
            <a:off x="1527048" y="3429000"/>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It finds the free twenty-minute slots for that doctor on that day and sends the list back.</a:t>
            </a:r>
            <a:endParaRPr lang="en-US" sz="1150" dirty="0"/>
          </a:p>
        </p:txBody>
      </p:sp>
      <p:sp>
        <p:nvSpPr>
          <p:cNvPr id="19" name="Shape 17"/>
          <p:cNvSpPr/>
          <p:nvPr/>
        </p:nvSpPr>
        <p:spPr>
          <a:xfrm>
            <a:off x="6217920" y="2990088"/>
            <a:ext cx="5257800" cy="1115568"/>
          </a:xfrm>
          <a:prstGeom prst="roundRect">
            <a:avLst>
              <a:gd name="adj" fmla="val 4918"/>
            </a:avLst>
          </a:prstGeom>
          <a:solidFill>
            <a:srgbClr val="FFFFFF"/>
          </a:solidFill>
          <a:ln w="12700">
            <a:solidFill>
              <a:srgbClr val="E7E3D9"/>
            </a:solidFill>
            <a:prstDash val="solid"/>
          </a:ln>
        </p:spPr>
      </p:sp>
      <p:sp>
        <p:nvSpPr>
          <p:cNvPr id="20" name="Shape 18"/>
          <p:cNvSpPr/>
          <p:nvPr/>
        </p:nvSpPr>
        <p:spPr>
          <a:xfrm>
            <a:off x="6473952" y="3246120"/>
            <a:ext cx="402336" cy="402336"/>
          </a:xfrm>
          <a:prstGeom prst="ellipse">
            <a:avLst/>
          </a:prstGeom>
          <a:solidFill>
            <a:srgbClr val="0E6A5C"/>
          </a:solidFill>
          <a:ln/>
        </p:spPr>
      </p:sp>
      <p:sp>
        <p:nvSpPr>
          <p:cNvPr id="21" name="Text 19"/>
          <p:cNvSpPr/>
          <p:nvPr/>
        </p:nvSpPr>
        <p:spPr>
          <a:xfrm>
            <a:off x="6473952" y="3246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59168" y="3136392"/>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She picks 10:30</a:t>
            </a:r>
            <a:endParaRPr lang="en-US" sz="1450" dirty="0"/>
          </a:p>
        </p:txBody>
      </p:sp>
      <p:sp>
        <p:nvSpPr>
          <p:cNvPr id="23" name="Text 21"/>
          <p:cNvSpPr/>
          <p:nvPr/>
        </p:nvSpPr>
        <p:spPr>
          <a:xfrm>
            <a:off x="7059168" y="3429000"/>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She types her name, age, number and reason, and presses Hold this slot.</a:t>
            </a:r>
            <a:endParaRPr lang="en-US" sz="1150" dirty="0"/>
          </a:p>
        </p:txBody>
      </p:sp>
      <p:sp>
        <p:nvSpPr>
          <p:cNvPr id="24" name="Shape 22"/>
          <p:cNvSpPr/>
          <p:nvPr/>
        </p:nvSpPr>
        <p:spPr>
          <a:xfrm>
            <a:off x="685800" y="4288536"/>
            <a:ext cx="5257800" cy="1115568"/>
          </a:xfrm>
          <a:prstGeom prst="roundRect">
            <a:avLst>
              <a:gd name="adj" fmla="val 4918"/>
            </a:avLst>
          </a:prstGeom>
          <a:solidFill>
            <a:srgbClr val="FFFFFF"/>
          </a:solidFill>
          <a:ln w="12700">
            <a:solidFill>
              <a:srgbClr val="E7E3D9"/>
            </a:solidFill>
            <a:prstDash val="solid"/>
          </a:ln>
        </p:spPr>
      </p:sp>
      <p:sp>
        <p:nvSpPr>
          <p:cNvPr id="25" name="Shape 23"/>
          <p:cNvSpPr/>
          <p:nvPr/>
        </p:nvSpPr>
        <p:spPr>
          <a:xfrm>
            <a:off x="941832" y="4544568"/>
            <a:ext cx="402336" cy="402336"/>
          </a:xfrm>
          <a:prstGeom prst="ellipse">
            <a:avLst/>
          </a:prstGeom>
          <a:solidFill>
            <a:srgbClr val="0E6A5C"/>
          </a:solidFill>
          <a:ln/>
        </p:spPr>
      </p:sp>
      <p:sp>
        <p:nvSpPr>
          <p:cNvPr id="26" name="Text 24"/>
          <p:cNvSpPr/>
          <p:nvPr/>
        </p:nvSpPr>
        <p:spPr>
          <a:xfrm>
            <a:off x="941832" y="45445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527048" y="4434840"/>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The server checks again</a:t>
            </a:r>
            <a:endParaRPr lang="en-US" sz="1450" dirty="0"/>
          </a:p>
        </p:txBody>
      </p:sp>
      <p:sp>
        <p:nvSpPr>
          <p:cNvPr id="28" name="Text 26"/>
          <p:cNvSpPr/>
          <p:nvPr/>
        </p:nvSpPr>
        <p:spPr>
          <a:xfrm>
            <a:off x="1527048" y="4727448"/>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Is that slot still free, is that a real ten-digit number. Only then does it write the booking down and send back a reference — DH-WEB01.</a:t>
            </a:r>
            <a:endParaRPr lang="en-US" sz="1150" dirty="0"/>
          </a:p>
        </p:txBody>
      </p:sp>
      <p:sp>
        <p:nvSpPr>
          <p:cNvPr id="29" name="Shape 27"/>
          <p:cNvSpPr/>
          <p:nvPr/>
        </p:nvSpPr>
        <p:spPr>
          <a:xfrm>
            <a:off x="6217920" y="4288536"/>
            <a:ext cx="5257800" cy="1115568"/>
          </a:xfrm>
          <a:prstGeom prst="roundRect">
            <a:avLst>
              <a:gd name="adj" fmla="val 4918"/>
            </a:avLst>
          </a:prstGeom>
          <a:solidFill>
            <a:srgbClr val="FFFFFF"/>
          </a:solidFill>
          <a:ln w="12700">
            <a:solidFill>
              <a:srgbClr val="E7E3D9"/>
            </a:solidFill>
            <a:prstDash val="solid"/>
          </a:ln>
        </p:spPr>
      </p:sp>
      <p:sp>
        <p:nvSpPr>
          <p:cNvPr id="30" name="Shape 28"/>
          <p:cNvSpPr/>
          <p:nvPr/>
        </p:nvSpPr>
        <p:spPr>
          <a:xfrm>
            <a:off x="6473952" y="4544568"/>
            <a:ext cx="402336" cy="402336"/>
          </a:xfrm>
          <a:prstGeom prst="ellipse">
            <a:avLst/>
          </a:prstGeom>
          <a:solidFill>
            <a:srgbClr val="0E6A5C"/>
          </a:solidFill>
          <a:ln/>
        </p:spPr>
      </p:sp>
      <p:sp>
        <p:nvSpPr>
          <p:cNvPr id="31" name="Text 29"/>
          <p:cNvSpPr/>
          <p:nvPr/>
        </p:nvSpPr>
        <p:spPr>
          <a:xfrm>
            <a:off x="6473952" y="45445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7059168" y="4434840"/>
            <a:ext cx="4206240" cy="274320"/>
          </a:xfrm>
          <a:prstGeom prst="rect">
            <a:avLst/>
          </a:prstGeom>
          <a:noFill/>
          <a:ln/>
        </p:spPr>
        <p:txBody>
          <a:bodyPr wrap="square" lIns="0" tIns="0" rIns="0" bIns="0" rtlCol="0" anchor="ctr"/>
          <a:lstStyle/>
          <a:p>
            <a:pPr indent="0" marL="0">
              <a:buNone/>
            </a:pPr>
            <a:r>
              <a:rPr lang="en-US" sz="1450" b="1" dirty="0">
                <a:solidFill>
                  <a:srgbClr val="16130F"/>
                </a:solidFill>
                <a:latin typeface="Calibri" pitchFamily="34" charset="0"/>
                <a:ea typeface="Calibri" pitchFamily="34" charset="-122"/>
                <a:cs typeface="Calibri" pitchFamily="34" charset="-120"/>
              </a:rPr>
              <a:t>A chime sounds at reception</a:t>
            </a:r>
            <a:endParaRPr lang="en-US" sz="1450" dirty="0"/>
          </a:p>
        </p:txBody>
      </p:sp>
      <p:sp>
        <p:nvSpPr>
          <p:cNvPr id="33" name="Text 31"/>
          <p:cNvSpPr/>
          <p:nvPr/>
        </p:nvSpPr>
        <p:spPr>
          <a:xfrm>
            <a:off x="7059168" y="4727448"/>
            <a:ext cx="4206240" cy="621792"/>
          </a:xfrm>
          <a:prstGeom prst="rect">
            <a:avLst/>
          </a:prstGeom>
          <a:noFill/>
          <a:ln/>
        </p:spPr>
        <p:txBody>
          <a:bodyPr wrap="square" lIns="0" tIns="0" rIns="0" bIns="0" rtlCol="0" anchor="ctr"/>
          <a:lstStyle/>
          <a:p>
            <a:pPr indent="0" marL="0">
              <a:lnSpc>
                <a:spcPts val="1600"/>
              </a:lnSpc>
              <a:buNone/>
            </a:pPr>
            <a:r>
              <a:rPr lang="en-US" sz="1150" dirty="0">
                <a:solidFill>
                  <a:srgbClr val="403B33"/>
                </a:solidFill>
                <a:latin typeface="Calibri" pitchFamily="34" charset="0"/>
                <a:ea typeface="Calibri" pitchFamily="34" charset="-122"/>
                <a:cs typeface="Calibri" pitchFamily="34" charset="-120"/>
              </a:rPr>
              <a:t>The booking is on their screen. Nobody typed it, and it took her under a minute.</a:t>
            </a:r>
            <a:endParaRPr lang="en-US" sz="1150" dirty="0"/>
          </a:p>
        </p:txBody>
      </p:sp>
      <p:sp>
        <p:nvSpPr>
          <p:cNvPr id="34" name="Shape 32"/>
          <p:cNvSpPr/>
          <p:nvPr/>
        </p:nvSpPr>
        <p:spPr>
          <a:xfrm>
            <a:off x="685800" y="5669280"/>
            <a:ext cx="10789920" cy="777240"/>
          </a:xfrm>
          <a:prstGeom prst="roundRect">
            <a:avLst>
              <a:gd name="adj" fmla="val 7059"/>
            </a:avLst>
          </a:prstGeom>
          <a:solidFill>
            <a:srgbClr val="052B26"/>
          </a:solidFill>
          <a:ln w="12700">
            <a:solidFill>
              <a:srgbClr val="052B26"/>
            </a:solidFill>
            <a:prstDash val="solid"/>
          </a:ln>
        </p:spPr>
      </p:sp>
      <p:sp>
        <p:nvSpPr>
          <p:cNvPr id="35" name="Text 33"/>
          <p:cNvSpPr/>
          <p:nvPr/>
        </p:nvSpPr>
        <p:spPr>
          <a:xfrm>
            <a:off x="1051560" y="5806440"/>
            <a:ext cx="10058400" cy="502920"/>
          </a:xfrm>
          <a:prstGeom prst="rect">
            <a:avLst/>
          </a:prstGeom>
          <a:noFill/>
          <a:ln/>
        </p:spPr>
        <p:txBody>
          <a:bodyPr wrap="square" lIns="0" tIns="0" rIns="0" bIns="0"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The diary itself refuses two bookings for the same doctor at the same minute — so even two people tapping in the same second cannot double-book.</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IN PLAIN WORDS</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What each piece actually is</a:t>
            </a:r>
            <a:endParaRPr lang="en-US" sz="3400" dirty="0"/>
          </a:p>
        </p:txBody>
      </p:sp>
      <p:sp>
        <p:nvSpPr>
          <p:cNvPr id="4" name="Shape 2"/>
          <p:cNvSpPr/>
          <p:nvPr/>
        </p:nvSpPr>
        <p:spPr>
          <a:xfrm>
            <a:off x="685800" y="1737360"/>
            <a:ext cx="10789920" cy="1188720"/>
          </a:xfrm>
          <a:prstGeom prst="roundRect">
            <a:avLst>
              <a:gd name="adj" fmla="val 4615"/>
            </a:avLst>
          </a:prstGeom>
          <a:solidFill>
            <a:srgbClr val="FFFFFF"/>
          </a:solidFill>
          <a:ln w="12700">
            <a:solidFill>
              <a:srgbClr val="E7E3D9"/>
            </a:solidFill>
            <a:prstDash val="solid"/>
          </a:ln>
        </p:spPr>
      </p:sp>
      <p:sp>
        <p:nvSpPr>
          <p:cNvPr id="5" name="Text 3"/>
          <p:cNvSpPr/>
          <p:nvPr/>
        </p:nvSpPr>
        <p:spPr>
          <a:xfrm>
            <a:off x="1005840" y="1956816"/>
            <a:ext cx="2377440" cy="457200"/>
          </a:xfrm>
          <a:prstGeom prst="rect">
            <a:avLst/>
          </a:prstGeom>
          <a:noFill/>
          <a:ln/>
        </p:spPr>
        <p:txBody>
          <a:bodyPr wrap="square" lIns="0" tIns="0" rIns="0" bIns="0" rtlCol="0" anchor="ctr"/>
          <a:lstStyle/>
          <a:p>
            <a:pPr indent="0" marL="0">
              <a:buNone/>
            </a:pPr>
            <a:r>
              <a:rPr lang="en-US" sz="2000" b="1" dirty="0">
                <a:solidFill>
                  <a:srgbClr val="0E6A5C"/>
                </a:solidFill>
                <a:latin typeface="Cambria" pitchFamily="34" charset="0"/>
                <a:ea typeface="Cambria" pitchFamily="34" charset="-122"/>
                <a:cs typeface="Cambria" pitchFamily="34" charset="-120"/>
              </a:rPr>
              <a:t>The website</a:t>
            </a:r>
            <a:endParaRPr lang="en-US" sz="2000" dirty="0"/>
          </a:p>
        </p:txBody>
      </p:sp>
      <p:sp>
        <p:nvSpPr>
          <p:cNvPr id="6" name="Text 4"/>
          <p:cNvSpPr/>
          <p:nvPr/>
        </p:nvSpPr>
        <p:spPr>
          <a:xfrm>
            <a:off x="3566160" y="1920240"/>
            <a:ext cx="7589520" cy="868680"/>
          </a:xfrm>
          <a:prstGeom prst="rect">
            <a:avLst/>
          </a:prstGeom>
          <a:noFill/>
          <a:ln/>
        </p:spPr>
        <p:txBody>
          <a:bodyPr wrap="square" lIns="0" tIns="0" rIns="0" bIns="0" rtlCol="0" anchor="ctr"/>
          <a:lstStyle/>
          <a:p>
            <a:pPr indent="0" marL="0">
              <a:lnSpc>
                <a:spcPts val="2100"/>
              </a:lnSpc>
              <a:buNone/>
            </a:pPr>
            <a:r>
              <a:rPr lang="en-US" sz="1350" dirty="0">
                <a:solidFill>
                  <a:srgbClr val="403B33"/>
                </a:solidFill>
                <a:latin typeface="Calibri" pitchFamily="34" charset="0"/>
                <a:ea typeface="Calibri" pitchFamily="34" charset="-122"/>
                <a:cs typeface="Calibri" pitchFamily="34" charset="-120"/>
              </a:rPr>
              <a:t>Written with React. It is only pictures and words — it holds no records and cannot be trusted with any, because it runs on the patient’s own phone where anybody could change it.</a:t>
            </a:r>
            <a:endParaRPr lang="en-US" sz="1350" dirty="0"/>
          </a:p>
        </p:txBody>
      </p:sp>
      <p:sp>
        <p:nvSpPr>
          <p:cNvPr id="7" name="Shape 5"/>
          <p:cNvSpPr/>
          <p:nvPr/>
        </p:nvSpPr>
        <p:spPr>
          <a:xfrm>
            <a:off x="685800" y="3154680"/>
            <a:ext cx="10789920" cy="1188720"/>
          </a:xfrm>
          <a:prstGeom prst="roundRect">
            <a:avLst>
              <a:gd name="adj" fmla="val 4615"/>
            </a:avLst>
          </a:prstGeom>
          <a:solidFill>
            <a:srgbClr val="FFFFFF"/>
          </a:solidFill>
          <a:ln w="12700">
            <a:solidFill>
              <a:srgbClr val="E7E3D9"/>
            </a:solidFill>
            <a:prstDash val="solid"/>
          </a:ln>
        </p:spPr>
      </p:sp>
      <p:sp>
        <p:nvSpPr>
          <p:cNvPr id="8" name="Text 6"/>
          <p:cNvSpPr/>
          <p:nvPr/>
        </p:nvSpPr>
        <p:spPr>
          <a:xfrm>
            <a:off x="1005840" y="3374136"/>
            <a:ext cx="2377440" cy="457200"/>
          </a:xfrm>
          <a:prstGeom prst="rect">
            <a:avLst/>
          </a:prstGeom>
          <a:noFill/>
          <a:ln/>
        </p:spPr>
        <p:txBody>
          <a:bodyPr wrap="square" lIns="0" tIns="0" rIns="0" bIns="0" rtlCol="0" anchor="ctr"/>
          <a:lstStyle/>
          <a:p>
            <a:pPr indent="0" marL="0">
              <a:buNone/>
            </a:pPr>
            <a:r>
              <a:rPr lang="en-US" sz="2000" b="1" dirty="0">
                <a:solidFill>
                  <a:srgbClr val="0E6A5C"/>
                </a:solidFill>
                <a:latin typeface="Cambria" pitchFamily="34" charset="0"/>
                <a:ea typeface="Cambria" pitchFamily="34" charset="-122"/>
                <a:cs typeface="Cambria" pitchFamily="34" charset="-120"/>
              </a:rPr>
              <a:t>The server</a:t>
            </a:r>
            <a:endParaRPr lang="en-US" sz="2000" dirty="0"/>
          </a:p>
        </p:txBody>
      </p:sp>
      <p:sp>
        <p:nvSpPr>
          <p:cNvPr id="9" name="Text 7"/>
          <p:cNvSpPr/>
          <p:nvPr/>
        </p:nvSpPr>
        <p:spPr>
          <a:xfrm>
            <a:off x="3566160" y="3337560"/>
            <a:ext cx="7589520" cy="868680"/>
          </a:xfrm>
          <a:prstGeom prst="rect">
            <a:avLst/>
          </a:prstGeom>
          <a:noFill/>
          <a:ln/>
        </p:spPr>
        <p:txBody>
          <a:bodyPr wrap="square" lIns="0" tIns="0" rIns="0" bIns="0" rtlCol="0" anchor="ctr"/>
          <a:lstStyle/>
          <a:p>
            <a:pPr indent="0" marL="0">
              <a:lnSpc>
                <a:spcPts val="2100"/>
              </a:lnSpc>
              <a:buNone/>
            </a:pPr>
            <a:r>
              <a:rPr lang="en-US" sz="1350" dirty="0">
                <a:solidFill>
                  <a:srgbClr val="403B33"/>
                </a:solidFill>
                <a:latin typeface="Calibri" pitchFamily="34" charset="0"/>
                <a:ea typeface="Calibri" pitchFamily="34" charset="-122"/>
                <a:cs typeface="Calibri" pitchFamily="34" charset="-120"/>
              </a:rPr>
              <a:t>Written with Node and Express. It is the only thing allowed to say yes. Every rule lives here — so even if somebody tampered with the website on their own phone, they would get no further than the counter.</a:t>
            </a:r>
            <a:endParaRPr lang="en-US" sz="1350" dirty="0"/>
          </a:p>
        </p:txBody>
      </p:sp>
      <p:sp>
        <p:nvSpPr>
          <p:cNvPr id="10" name="Shape 8"/>
          <p:cNvSpPr/>
          <p:nvPr/>
        </p:nvSpPr>
        <p:spPr>
          <a:xfrm>
            <a:off x="685800" y="4572000"/>
            <a:ext cx="10789920" cy="1188720"/>
          </a:xfrm>
          <a:prstGeom prst="roundRect">
            <a:avLst>
              <a:gd name="adj" fmla="val 4615"/>
            </a:avLst>
          </a:prstGeom>
          <a:solidFill>
            <a:srgbClr val="FFFFFF"/>
          </a:solidFill>
          <a:ln w="12700">
            <a:solidFill>
              <a:srgbClr val="E7E3D9"/>
            </a:solidFill>
            <a:prstDash val="solid"/>
          </a:ln>
        </p:spPr>
      </p:sp>
      <p:sp>
        <p:nvSpPr>
          <p:cNvPr id="11" name="Text 9"/>
          <p:cNvSpPr/>
          <p:nvPr/>
        </p:nvSpPr>
        <p:spPr>
          <a:xfrm>
            <a:off x="1005840" y="4791456"/>
            <a:ext cx="2377440" cy="457200"/>
          </a:xfrm>
          <a:prstGeom prst="rect">
            <a:avLst/>
          </a:prstGeom>
          <a:noFill/>
          <a:ln/>
        </p:spPr>
        <p:txBody>
          <a:bodyPr wrap="square" lIns="0" tIns="0" rIns="0" bIns="0" rtlCol="0" anchor="ctr"/>
          <a:lstStyle/>
          <a:p>
            <a:pPr indent="0" marL="0">
              <a:buNone/>
            </a:pPr>
            <a:r>
              <a:rPr lang="en-US" sz="2000" b="1" dirty="0">
                <a:solidFill>
                  <a:srgbClr val="0E6A5C"/>
                </a:solidFill>
                <a:latin typeface="Cambria" pitchFamily="34" charset="0"/>
                <a:ea typeface="Cambria" pitchFamily="34" charset="-122"/>
                <a:cs typeface="Cambria" pitchFamily="34" charset="-120"/>
              </a:rPr>
              <a:t>The database</a:t>
            </a:r>
            <a:endParaRPr lang="en-US" sz="2000" dirty="0"/>
          </a:p>
        </p:txBody>
      </p:sp>
      <p:sp>
        <p:nvSpPr>
          <p:cNvPr id="12" name="Text 10"/>
          <p:cNvSpPr/>
          <p:nvPr/>
        </p:nvSpPr>
        <p:spPr>
          <a:xfrm>
            <a:off x="3566160" y="4754880"/>
            <a:ext cx="7589520" cy="868680"/>
          </a:xfrm>
          <a:prstGeom prst="rect">
            <a:avLst/>
          </a:prstGeom>
          <a:noFill/>
          <a:ln/>
        </p:spPr>
        <p:txBody>
          <a:bodyPr wrap="square" lIns="0" tIns="0" rIns="0" bIns="0" rtlCol="0" anchor="ctr"/>
          <a:lstStyle/>
          <a:p>
            <a:pPr indent="0" marL="0">
              <a:lnSpc>
                <a:spcPts val="2100"/>
              </a:lnSpc>
              <a:buNone/>
            </a:pPr>
            <a:r>
              <a:rPr lang="en-US" sz="1350" dirty="0">
                <a:solidFill>
                  <a:srgbClr val="403B33"/>
                </a:solidFill>
                <a:latin typeface="Calibri" pitchFamily="34" charset="0"/>
                <a:ea typeface="Calibri" pitchFamily="34" charset="-122"/>
                <a:cs typeface="Calibri" pitchFamily="34" charset="-120"/>
              </a:rPr>
              <a:t>SQLite — a single file on the server’s disk. Small, fast, and nothing extra to pay for or run. It is copied automatically every six hours.</a:t>
            </a:r>
            <a:endParaRPr lang="en-US" sz="1350" dirty="0"/>
          </a:p>
        </p:txBody>
      </p:sp>
      <p:sp>
        <p:nvSpPr>
          <p:cNvPr id="13" name="Text 11"/>
          <p:cNvSpPr/>
          <p:nvPr/>
        </p:nvSpPr>
        <p:spPr>
          <a:xfrm>
            <a:off x="685800" y="5852160"/>
            <a:ext cx="10789920" cy="457200"/>
          </a:xfrm>
          <a:prstGeom prst="rect">
            <a:avLst/>
          </a:prstGeom>
          <a:noFill/>
          <a:ln/>
        </p:spPr>
        <p:txBody>
          <a:bodyPr wrap="square" lIns="0" tIns="0" rIns="0" bIns="0" rtlCol="0" anchor="ctr"/>
          <a:lstStyle/>
          <a:p>
            <a:pPr indent="0" marL="0">
              <a:buNone/>
            </a:pPr>
            <a:r>
              <a:rPr lang="en-US" sz="1400" i="1" dirty="0">
                <a:solidFill>
                  <a:srgbClr val="706B5E"/>
                </a:solidFill>
                <a:latin typeface="Calibri" pitchFamily="34" charset="0"/>
                <a:ea typeface="Calibri" pitchFamily="34" charset="-122"/>
                <a:cs typeface="Calibri" pitchFamily="34" charset="-120"/>
              </a:rPr>
              <a:t>All three are free and open source. There is no licence to renew and no company that can raise a price later — adding the 26th doctor costs nothing.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A WORD THAT MEANS TWO THINGS</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Have we built a server? Yes — and not yet</a:t>
            </a:r>
            <a:endParaRPr lang="en-US" sz="3400" dirty="0"/>
          </a:p>
        </p:txBody>
      </p:sp>
      <p:sp>
        <p:nvSpPr>
          <p:cNvPr id="4" name="Shape 2"/>
          <p:cNvSpPr/>
          <p:nvPr/>
        </p:nvSpPr>
        <p:spPr>
          <a:xfrm>
            <a:off x="685800" y="1737360"/>
            <a:ext cx="5257800" cy="3063240"/>
          </a:xfrm>
          <a:prstGeom prst="roundRect">
            <a:avLst>
              <a:gd name="adj" fmla="val 2388"/>
            </a:avLst>
          </a:prstGeom>
          <a:solidFill>
            <a:srgbClr val="EEF6F4"/>
          </a:solidFill>
          <a:ln w="12700">
            <a:solidFill>
              <a:srgbClr val="72B7AB"/>
            </a:solidFill>
            <a:prstDash val="solid"/>
          </a:ln>
        </p:spPr>
      </p:sp>
      <p:sp>
        <p:nvSpPr>
          <p:cNvPr id="5" name="Text 3"/>
          <p:cNvSpPr/>
          <p:nvPr/>
        </p:nvSpPr>
        <p:spPr>
          <a:xfrm>
            <a:off x="1005840" y="1965960"/>
            <a:ext cx="4617720" cy="411480"/>
          </a:xfrm>
          <a:prstGeom prst="rect">
            <a:avLst/>
          </a:prstGeom>
          <a:noFill/>
          <a:ln/>
        </p:spPr>
        <p:txBody>
          <a:bodyPr wrap="square" lIns="0" tIns="0" rIns="0" bIns="0" rtlCol="0" anchor="ctr"/>
          <a:lstStyle/>
          <a:p>
            <a:pPr indent="0" marL="0">
              <a:buNone/>
            </a:pPr>
            <a:r>
              <a:rPr lang="en-US" sz="2200" b="1" dirty="0">
                <a:solidFill>
                  <a:srgbClr val="0E6A5C"/>
                </a:solidFill>
                <a:latin typeface="Cambria" pitchFamily="34" charset="0"/>
                <a:ea typeface="Cambria" pitchFamily="34" charset="-122"/>
                <a:cs typeface="Cambria" pitchFamily="34" charset="-120"/>
              </a:rPr>
              <a:t>Built — the program</a:t>
            </a:r>
            <a:endParaRPr lang="en-US" sz="2200" dirty="0"/>
          </a:p>
        </p:txBody>
      </p:sp>
      <p:sp>
        <p:nvSpPr>
          <p:cNvPr id="6" name="Text 4"/>
          <p:cNvSpPr/>
          <p:nvPr/>
        </p:nvSpPr>
        <p:spPr>
          <a:xfrm>
            <a:off x="1005840" y="2514600"/>
            <a:ext cx="4617720" cy="155448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Twenty-nine files, about 6,500 lines, and 109 tests that pass. It handles accounts, the doctor catalogue, appointments, payments, the reception desk and its own backups.</a:t>
            </a:r>
            <a:endParaRPr lang="en-US" sz="1300" dirty="0"/>
          </a:p>
        </p:txBody>
      </p:sp>
      <p:sp>
        <p:nvSpPr>
          <p:cNvPr id="7" name="Text 5"/>
          <p:cNvSpPr/>
          <p:nvPr/>
        </p:nvSpPr>
        <p:spPr>
          <a:xfrm>
            <a:off x="1005840" y="4160520"/>
            <a:ext cx="4617720" cy="457200"/>
          </a:xfrm>
          <a:prstGeom prst="rect">
            <a:avLst/>
          </a:prstGeom>
          <a:noFill/>
          <a:ln/>
        </p:spPr>
        <p:txBody>
          <a:bodyPr wrap="square" lIns="0" tIns="0" rIns="0" bIns="0" rtlCol="0" anchor="ctr"/>
          <a:lstStyle/>
          <a:p>
            <a:pPr indent="0" marL="0">
              <a:buNone/>
            </a:pPr>
            <a:r>
              <a:rPr lang="en-US" sz="1300" b="1" dirty="0">
                <a:solidFill>
                  <a:srgbClr val="0E6A5C"/>
                </a:solidFill>
                <a:latin typeface="Calibri" pitchFamily="34" charset="0"/>
                <a:ea typeface="Calibri" pitchFamily="34" charset="-122"/>
                <a:cs typeface="Calibri" pitchFamily="34" charset="-120"/>
              </a:rPr>
              <a:t>This is finished. It runs today.</a:t>
            </a:r>
            <a:endParaRPr lang="en-US" sz="1300" dirty="0"/>
          </a:p>
        </p:txBody>
      </p:sp>
      <p:sp>
        <p:nvSpPr>
          <p:cNvPr id="8" name="Shape 6"/>
          <p:cNvSpPr/>
          <p:nvPr/>
        </p:nvSpPr>
        <p:spPr>
          <a:xfrm>
            <a:off x="6217920" y="1737360"/>
            <a:ext cx="5257800" cy="3063240"/>
          </a:xfrm>
          <a:prstGeom prst="roundRect">
            <a:avLst>
              <a:gd name="adj" fmla="val 2388"/>
            </a:avLst>
          </a:prstGeom>
          <a:solidFill>
            <a:srgbClr val="FDF6E7"/>
          </a:solidFill>
          <a:ln w="12700">
            <a:solidFill>
              <a:srgbClr val="E8D3A3"/>
            </a:solidFill>
            <a:prstDash val="solid"/>
          </a:ln>
        </p:spPr>
      </p:sp>
      <p:sp>
        <p:nvSpPr>
          <p:cNvPr id="9" name="Text 7"/>
          <p:cNvSpPr/>
          <p:nvPr/>
        </p:nvSpPr>
        <p:spPr>
          <a:xfrm>
            <a:off x="6537960" y="1965960"/>
            <a:ext cx="4617720" cy="411480"/>
          </a:xfrm>
          <a:prstGeom prst="rect">
            <a:avLst/>
          </a:prstGeom>
          <a:noFill/>
          <a:ln/>
        </p:spPr>
        <p:txBody>
          <a:bodyPr wrap="square" lIns="0" tIns="0" rIns="0" bIns="0" rtlCol="0" anchor="ctr"/>
          <a:lstStyle/>
          <a:p>
            <a:pPr indent="0" marL="0">
              <a:buNone/>
            </a:pPr>
            <a:r>
              <a:rPr lang="en-US" sz="2200" b="1" dirty="0">
                <a:solidFill>
                  <a:srgbClr val="8A5A12"/>
                </a:solidFill>
                <a:latin typeface="Cambria" pitchFamily="34" charset="0"/>
                <a:ea typeface="Cambria" pitchFamily="34" charset="-122"/>
                <a:cs typeface="Cambria" pitchFamily="34" charset="-120"/>
              </a:rPr>
              <a:t>Not yet — the machine</a:t>
            </a:r>
            <a:endParaRPr lang="en-US" sz="2200" dirty="0"/>
          </a:p>
        </p:txBody>
      </p:sp>
      <p:sp>
        <p:nvSpPr>
          <p:cNvPr id="10" name="Text 8"/>
          <p:cNvSpPr/>
          <p:nvPr/>
        </p:nvSpPr>
        <p:spPr>
          <a:xfrm>
            <a:off x="6537960" y="2514600"/>
            <a:ext cx="4617720" cy="1554480"/>
          </a:xfrm>
          <a:prstGeom prst="rect">
            <a:avLst/>
          </a:prstGeom>
          <a:noFill/>
          <a:ln/>
        </p:spPr>
        <p:txBody>
          <a:bodyPr wrap="square" lIns="0" tIns="0" rIns="0" bIns="0" rtlCol="0" anchor="ctr"/>
          <a:lstStyle/>
          <a:p>
            <a:pPr indent="0" marL="0">
              <a:lnSpc>
                <a:spcPts val="2100"/>
              </a:lnSpc>
              <a:buNone/>
            </a:pPr>
            <a:r>
              <a:rPr lang="en-US" sz="1300" dirty="0">
                <a:solidFill>
                  <a:srgbClr val="403B33"/>
                </a:solidFill>
                <a:latin typeface="Calibri" pitchFamily="34" charset="0"/>
                <a:ea typeface="Calibri" pitchFamily="34" charset="-122"/>
                <a:cs typeface="Calibri" pitchFamily="34" charset="-120"/>
              </a:rPr>
              <a:t>A rented computer in Mumbai or Bengaluru for the program to live on, so it is running at three in the morning when somebody books. Roughly ₹6,000 – ₹18,000 a year, plus about ₹1,000 for the domain name.</a:t>
            </a:r>
            <a:endParaRPr lang="en-US" sz="1300" dirty="0"/>
          </a:p>
        </p:txBody>
      </p:sp>
      <p:sp>
        <p:nvSpPr>
          <p:cNvPr id="11" name="Text 9"/>
          <p:cNvSpPr/>
          <p:nvPr/>
        </p:nvSpPr>
        <p:spPr>
          <a:xfrm>
            <a:off x="6537960" y="4160520"/>
            <a:ext cx="4617720" cy="457200"/>
          </a:xfrm>
          <a:prstGeom prst="rect">
            <a:avLst/>
          </a:prstGeom>
          <a:noFill/>
          <a:ln/>
        </p:spPr>
        <p:txBody>
          <a:bodyPr wrap="square" lIns="0" tIns="0" rIns="0" bIns="0" rtlCol="0" anchor="ctr"/>
          <a:lstStyle/>
          <a:p>
            <a:pPr indent="0" marL="0">
              <a:buNone/>
            </a:pPr>
            <a:r>
              <a:rPr lang="en-US" sz="1300" b="1" dirty="0">
                <a:solidFill>
                  <a:srgbClr val="8A5A12"/>
                </a:solidFill>
                <a:latin typeface="Calibri" pitchFamily="34" charset="0"/>
                <a:ea typeface="Calibri" pitchFamily="34" charset="-122"/>
                <a:cs typeface="Calibri" pitchFamily="34" charset="-120"/>
              </a:rPr>
              <a:t>Until this is done, it only runs when somebody starts it.</a:t>
            </a:r>
            <a:endParaRPr lang="en-US" sz="1300" dirty="0"/>
          </a:p>
        </p:txBody>
      </p:sp>
      <p:sp>
        <p:nvSpPr>
          <p:cNvPr id="12" name="Shape 10"/>
          <p:cNvSpPr/>
          <p:nvPr/>
        </p:nvSpPr>
        <p:spPr>
          <a:xfrm>
            <a:off x="685800" y="5074920"/>
            <a:ext cx="10789920" cy="1051560"/>
          </a:xfrm>
          <a:prstGeom prst="roundRect">
            <a:avLst>
              <a:gd name="adj" fmla="val 6957"/>
            </a:avLst>
          </a:prstGeom>
          <a:solidFill>
            <a:srgbClr val="F4F2EC"/>
          </a:solidFill>
          <a:ln w="12700">
            <a:solidFill>
              <a:srgbClr val="E7E3D9"/>
            </a:solidFill>
            <a:prstDash val="solid"/>
          </a:ln>
        </p:spPr>
      </p:sp>
      <p:sp>
        <p:nvSpPr>
          <p:cNvPr id="13" name="Text 11"/>
          <p:cNvSpPr/>
          <p:nvPr/>
        </p:nvSpPr>
        <p:spPr>
          <a:xfrm>
            <a:off x="1097280" y="5230368"/>
            <a:ext cx="9966960" cy="777240"/>
          </a:xfrm>
          <a:prstGeom prst="rect">
            <a:avLst/>
          </a:prstGeom>
          <a:noFill/>
          <a:ln/>
        </p:spPr>
        <p:txBody>
          <a:bodyPr wrap="square" lIns="0" tIns="0" rIns="0" bIns="0" rtlCol="0" anchor="ctr"/>
          <a:lstStyle/>
          <a:p>
            <a:pPr algn="ctr" indent="0" marL="0">
              <a:lnSpc>
                <a:spcPts val="2000"/>
              </a:lnSpc>
              <a:buNone/>
            </a:pPr>
            <a:r>
              <a:rPr lang="en-US" sz="1300" dirty="0">
                <a:solidFill>
                  <a:srgbClr val="403B33"/>
                </a:solidFill>
                <a:latin typeface="Calibri" pitchFamily="34" charset="0"/>
                <a:ea typeface="Calibri" pitchFamily="34" charset="-122"/>
                <a:cs typeface="Calibri" pitchFamily="34" charset="-120"/>
              </a:rPr>
              <a:t>And there is no second machine for the database. It is one file sitting beside the program, so the whole hospital runs on one small computer — most systems need a separate database server, which doubles the bill and adds another thing that can fail at two in the morning.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THE DATA</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Where the records live, and who can reach them</a:t>
            </a:r>
            <a:endParaRPr lang="en-US" sz="3400" dirty="0"/>
          </a:p>
        </p:txBody>
      </p:sp>
      <p:sp>
        <p:nvSpPr>
          <p:cNvPr id="4" name="Shape 2"/>
          <p:cNvSpPr/>
          <p:nvPr/>
        </p:nvSpPr>
        <p:spPr>
          <a:xfrm>
            <a:off x="685800" y="1737360"/>
            <a:ext cx="5257800" cy="1783080"/>
          </a:xfrm>
          <a:prstGeom prst="roundRect">
            <a:avLst>
              <a:gd name="adj" fmla="val 4103"/>
            </a:avLst>
          </a:prstGeom>
          <a:solidFill>
            <a:srgbClr val="F4F2EC"/>
          </a:solidFill>
          <a:ln w="12700">
            <a:solidFill>
              <a:srgbClr val="E7E3D9"/>
            </a:solidFill>
            <a:prstDash val="solid"/>
          </a:ln>
        </p:spPr>
      </p:sp>
      <p:sp>
        <p:nvSpPr>
          <p:cNvPr id="5" name="Text 3"/>
          <p:cNvSpPr/>
          <p:nvPr/>
        </p:nvSpPr>
        <p:spPr>
          <a:xfrm>
            <a:off x="1005840" y="1965960"/>
            <a:ext cx="4617720" cy="365760"/>
          </a:xfrm>
          <a:prstGeom prst="rect">
            <a:avLst/>
          </a:prstGeom>
          <a:noFill/>
          <a:ln/>
        </p:spPr>
        <p:txBody>
          <a:bodyPr wrap="square" lIns="0" tIns="0" rIns="0" bIns="0" rtlCol="0" anchor="ctr"/>
          <a:lstStyle/>
          <a:p>
            <a:pPr indent="0" marL="0">
              <a:buNone/>
            </a:pPr>
            <a:r>
              <a:rPr lang="en-US" sz="1800" b="1" dirty="0">
                <a:solidFill>
                  <a:srgbClr val="16130F"/>
                </a:solidFill>
                <a:latin typeface="Cambria" pitchFamily="34" charset="0"/>
                <a:ea typeface="Cambria" pitchFamily="34" charset="-122"/>
                <a:cs typeface="Cambria" pitchFamily="34" charset="-120"/>
              </a:rPr>
              <a:t>Inside India</a:t>
            </a:r>
            <a:endParaRPr lang="en-US" sz="1800" dirty="0"/>
          </a:p>
        </p:txBody>
      </p:sp>
      <p:sp>
        <p:nvSpPr>
          <p:cNvPr id="6" name="Text 4"/>
          <p:cNvSpPr/>
          <p:nvPr/>
        </p:nvSpPr>
        <p:spPr>
          <a:xfrm>
            <a:off x="1005840" y="2395728"/>
            <a:ext cx="4617720" cy="100584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The server should sit in Mumbai or Bangalore. It is Indian patients’ health data, governed by the DPDP Act 2023, and keeping it in the country avoids the whole question.</a:t>
            </a:r>
            <a:endParaRPr lang="en-US" sz="1300" dirty="0"/>
          </a:p>
        </p:txBody>
      </p:sp>
      <p:sp>
        <p:nvSpPr>
          <p:cNvPr id="7" name="Shape 5"/>
          <p:cNvSpPr/>
          <p:nvPr/>
        </p:nvSpPr>
        <p:spPr>
          <a:xfrm>
            <a:off x="6217920" y="1737360"/>
            <a:ext cx="5257800" cy="1783080"/>
          </a:xfrm>
          <a:prstGeom prst="roundRect">
            <a:avLst>
              <a:gd name="adj" fmla="val 4103"/>
            </a:avLst>
          </a:prstGeom>
          <a:solidFill>
            <a:srgbClr val="F4F2EC"/>
          </a:solidFill>
          <a:ln w="12700">
            <a:solidFill>
              <a:srgbClr val="E7E3D9"/>
            </a:solidFill>
            <a:prstDash val="solid"/>
          </a:ln>
        </p:spPr>
      </p:sp>
      <p:sp>
        <p:nvSpPr>
          <p:cNvPr id="8" name="Text 6"/>
          <p:cNvSpPr/>
          <p:nvPr/>
        </p:nvSpPr>
        <p:spPr>
          <a:xfrm>
            <a:off x="6537960" y="1965960"/>
            <a:ext cx="4617720" cy="365760"/>
          </a:xfrm>
          <a:prstGeom prst="rect">
            <a:avLst/>
          </a:prstGeom>
          <a:noFill/>
          <a:ln/>
        </p:spPr>
        <p:txBody>
          <a:bodyPr wrap="square" lIns="0" tIns="0" rIns="0" bIns="0" rtlCol="0" anchor="ctr"/>
          <a:lstStyle/>
          <a:p>
            <a:pPr indent="0" marL="0">
              <a:buNone/>
            </a:pPr>
            <a:r>
              <a:rPr lang="en-US" sz="1800" b="1" dirty="0">
                <a:solidFill>
                  <a:srgbClr val="16130F"/>
                </a:solidFill>
                <a:latin typeface="Cambria" pitchFamily="34" charset="0"/>
                <a:ea typeface="Cambria" pitchFamily="34" charset="-122"/>
                <a:cs typeface="Cambria" pitchFamily="34" charset="-120"/>
              </a:rPr>
              <a:t>In the hospital’s own account</a:t>
            </a:r>
            <a:endParaRPr lang="en-US" sz="1800" dirty="0"/>
          </a:p>
        </p:txBody>
      </p:sp>
      <p:sp>
        <p:nvSpPr>
          <p:cNvPr id="9" name="Text 7"/>
          <p:cNvSpPr/>
          <p:nvPr/>
        </p:nvSpPr>
        <p:spPr>
          <a:xfrm>
            <a:off x="6537960" y="2395728"/>
            <a:ext cx="4617720" cy="100584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The domain, the server and the backups registered to Deepan Hospital — not to me. A supplier holding a hospital’s patient data is a problem for both sides.</a:t>
            </a:r>
            <a:endParaRPr lang="en-US" sz="1300" dirty="0"/>
          </a:p>
        </p:txBody>
      </p:sp>
      <p:sp>
        <p:nvSpPr>
          <p:cNvPr id="10" name="Shape 8"/>
          <p:cNvSpPr/>
          <p:nvPr/>
        </p:nvSpPr>
        <p:spPr>
          <a:xfrm>
            <a:off x="685800" y="3794760"/>
            <a:ext cx="5257800" cy="1783080"/>
          </a:xfrm>
          <a:prstGeom prst="roundRect">
            <a:avLst>
              <a:gd name="adj" fmla="val 4103"/>
            </a:avLst>
          </a:prstGeom>
          <a:solidFill>
            <a:srgbClr val="F4F2EC"/>
          </a:solidFill>
          <a:ln w="12700">
            <a:solidFill>
              <a:srgbClr val="E7E3D9"/>
            </a:solidFill>
            <a:prstDash val="solid"/>
          </a:ln>
        </p:spPr>
      </p:sp>
      <p:sp>
        <p:nvSpPr>
          <p:cNvPr id="11" name="Text 9"/>
          <p:cNvSpPr/>
          <p:nvPr/>
        </p:nvSpPr>
        <p:spPr>
          <a:xfrm>
            <a:off x="1005840" y="4023360"/>
            <a:ext cx="4617720" cy="365760"/>
          </a:xfrm>
          <a:prstGeom prst="rect">
            <a:avLst/>
          </a:prstGeom>
          <a:noFill/>
          <a:ln/>
        </p:spPr>
        <p:txBody>
          <a:bodyPr wrap="square" lIns="0" tIns="0" rIns="0" bIns="0" rtlCol="0" anchor="ctr"/>
          <a:lstStyle/>
          <a:p>
            <a:pPr indent="0" marL="0">
              <a:buNone/>
            </a:pPr>
            <a:r>
              <a:rPr lang="en-US" sz="1800" b="1" dirty="0">
                <a:solidFill>
                  <a:srgbClr val="16130F"/>
                </a:solidFill>
                <a:latin typeface="Cambria" pitchFamily="34" charset="0"/>
                <a:ea typeface="Cambria" pitchFamily="34" charset="-122"/>
                <a:cs typeface="Cambria" pitchFamily="34" charset="-120"/>
              </a:rPr>
              <a:t>Copied off the machine</a:t>
            </a:r>
            <a:endParaRPr lang="en-US" sz="1800" dirty="0"/>
          </a:p>
        </p:txBody>
      </p:sp>
      <p:sp>
        <p:nvSpPr>
          <p:cNvPr id="12" name="Text 10"/>
          <p:cNvSpPr/>
          <p:nvPr/>
        </p:nvSpPr>
        <p:spPr>
          <a:xfrm>
            <a:off x="1005840" y="4453128"/>
            <a:ext cx="4617720" cy="100584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A backup is written every six hours. Those copies must also be pulled somewhere else — a backup on the same disk is no protection against that disk failing.</a:t>
            </a:r>
            <a:endParaRPr lang="en-US" sz="1300" dirty="0"/>
          </a:p>
        </p:txBody>
      </p:sp>
      <p:sp>
        <p:nvSpPr>
          <p:cNvPr id="13" name="Shape 11"/>
          <p:cNvSpPr/>
          <p:nvPr/>
        </p:nvSpPr>
        <p:spPr>
          <a:xfrm>
            <a:off x="6217920" y="3794760"/>
            <a:ext cx="5257800" cy="1783080"/>
          </a:xfrm>
          <a:prstGeom prst="roundRect">
            <a:avLst>
              <a:gd name="adj" fmla="val 4103"/>
            </a:avLst>
          </a:prstGeom>
          <a:solidFill>
            <a:srgbClr val="F4F2EC"/>
          </a:solidFill>
          <a:ln w="12700">
            <a:solidFill>
              <a:srgbClr val="E7E3D9"/>
            </a:solidFill>
            <a:prstDash val="solid"/>
          </a:ln>
        </p:spPr>
      </p:sp>
      <p:sp>
        <p:nvSpPr>
          <p:cNvPr id="14" name="Text 12"/>
          <p:cNvSpPr/>
          <p:nvPr/>
        </p:nvSpPr>
        <p:spPr>
          <a:xfrm>
            <a:off x="6537960" y="4023360"/>
            <a:ext cx="4617720" cy="365760"/>
          </a:xfrm>
          <a:prstGeom prst="rect">
            <a:avLst/>
          </a:prstGeom>
          <a:noFill/>
          <a:ln/>
        </p:spPr>
        <p:txBody>
          <a:bodyPr wrap="square" lIns="0" tIns="0" rIns="0" bIns="0" rtlCol="0" anchor="ctr"/>
          <a:lstStyle/>
          <a:p>
            <a:pPr indent="0" marL="0">
              <a:buNone/>
            </a:pPr>
            <a:r>
              <a:rPr lang="en-US" sz="1800" b="1" dirty="0">
                <a:solidFill>
                  <a:srgbClr val="16130F"/>
                </a:solidFill>
                <a:latin typeface="Cambria" pitchFamily="34" charset="0"/>
                <a:ea typeface="Cambria" pitchFamily="34" charset="-122"/>
                <a:cs typeface="Cambria" pitchFamily="34" charset="-120"/>
              </a:rPr>
              <a:t>Nothing at risk today</a:t>
            </a:r>
            <a:endParaRPr lang="en-US" sz="1800" dirty="0"/>
          </a:p>
        </p:txBody>
      </p:sp>
      <p:sp>
        <p:nvSpPr>
          <p:cNvPr id="15" name="Text 13"/>
          <p:cNvSpPr/>
          <p:nvPr/>
        </p:nvSpPr>
        <p:spPr>
          <a:xfrm>
            <a:off x="6537960" y="4453128"/>
            <a:ext cx="4617720" cy="100584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The database holds the doctor roster and no real patients. Everything so far has been built and tested without a single patient record in it.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THE IMPORTANT ONE</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It does not replace Klinique</a:t>
            </a:r>
            <a:endParaRPr lang="en-US" sz="3400" dirty="0"/>
          </a:p>
        </p:txBody>
      </p:sp>
      <p:sp>
        <p:nvSpPr>
          <p:cNvPr id="4" name="Shape 2"/>
          <p:cNvSpPr/>
          <p:nvPr/>
        </p:nvSpPr>
        <p:spPr>
          <a:xfrm>
            <a:off x="685800" y="1737360"/>
            <a:ext cx="5257800" cy="2834640"/>
          </a:xfrm>
          <a:prstGeom prst="roundRect">
            <a:avLst>
              <a:gd name="adj" fmla="val 2581"/>
            </a:avLst>
          </a:prstGeom>
          <a:solidFill>
            <a:srgbClr val="EEF6F4"/>
          </a:solidFill>
          <a:ln w="12700">
            <a:solidFill>
              <a:srgbClr val="72B7AB"/>
            </a:solidFill>
            <a:prstDash val="solid"/>
          </a:ln>
        </p:spPr>
      </p:sp>
      <p:sp>
        <p:nvSpPr>
          <p:cNvPr id="5" name="Text 3"/>
          <p:cNvSpPr/>
          <p:nvPr/>
        </p:nvSpPr>
        <p:spPr>
          <a:xfrm>
            <a:off x="1005840" y="1965960"/>
            <a:ext cx="4617720" cy="457200"/>
          </a:xfrm>
          <a:prstGeom prst="rect">
            <a:avLst/>
          </a:prstGeom>
          <a:noFill/>
          <a:ln/>
        </p:spPr>
        <p:txBody>
          <a:bodyPr wrap="square" lIns="0" tIns="0" rIns="0" bIns="0" rtlCol="0" anchor="ctr"/>
          <a:lstStyle/>
          <a:p>
            <a:pPr indent="0" marL="0">
              <a:buNone/>
            </a:pPr>
            <a:r>
              <a:rPr lang="en-US" sz="2400" b="1" dirty="0">
                <a:solidFill>
                  <a:srgbClr val="0E6A5C"/>
                </a:solidFill>
                <a:latin typeface="Cambria" pitchFamily="34" charset="0"/>
                <a:ea typeface="Cambria" pitchFamily="34" charset="-122"/>
                <a:cs typeface="Cambria" pitchFamily="34" charset="-120"/>
              </a:rPr>
              <a:t>This app</a:t>
            </a:r>
            <a:endParaRPr lang="en-US" sz="2400" dirty="0"/>
          </a:p>
        </p:txBody>
      </p:sp>
      <p:sp>
        <p:nvSpPr>
          <p:cNvPr id="6" name="Text 4"/>
          <p:cNvSpPr/>
          <p:nvPr/>
        </p:nvSpPr>
        <p:spPr>
          <a:xfrm>
            <a:off x="1005840" y="2560320"/>
            <a:ext cx="4617720" cy="18288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The public booking page</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Departments, doctors, fees, free times</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The reception screen</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Sends the patient their appointment</a:t>
            </a:r>
            <a:endParaRPr lang="en-US" sz="1400" dirty="0"/>
          </a:p>
        </p:txBody>
      </p:sp>
      <p:sp>
        <p:nvSpPr>
          <p:cNvPr id="7" name="Shape 5"/>
          <p:cNvSpPr/>
          <p:nvPr/>
        </p:nvSpPr>
        <p:spPr>
          <a:xfrm>
            <a:off x="6217920" y="1737360"/>
            <a:ext cx="5257800" cy="2834640"/>
          </a:xfrm>
          <a:prstGeom prst="roundRect">
            <a:avLst>
              <a:gd name="adj" fmla="val 2581"/>
            </a:avLst>
          </a:prstGeom>
          <a:solidFill>
            <a:srgbClr val="F4F2EC"/>
          </a:solidFill>
          <a:ln w="12700">
            <a:solidFill>
              <a:srgbClr val="E7E3D9"/>
            </a:solidFill>
            <a:prstDash val="solid"/>
          </a:ln>
        </p:spPr>
      </p:sp>
      <p:sp>
        <p:nvSpPr>
          <p:cNvPr id="8" name="Text 6"/>
          <p:cNvSpPr/>
          <p:nvPr/>
        </p:nvSpPr>
        <p:spPr>
          <a:xfrm>
            <a:off x="6537960" y="1965960"/>
            <a:ext cx="4617720" cy="457200"/>
          </a:xfrm>
          <a:prstGeom prst="rect">
            <a:avLst/>
          </a:prstGeom>
          <a:noFill/>
          <a:ln/>
        </p:spPr>
        <p:txBody>
          <a:bodyPr wrap="square" lIns="0" tIns="0" rIns="0" bIns="0"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Klinique</a:t>
            </a:r>
            <a:endParaRPr lang="en-US" sz="2400" dirty="0"/>
          </a:p>
        </p:txBody>
      </p:sp>
      <p:sp>
        <p:nvSpPr>
          <p:cNvPr id="9" name="Text 7"/>
          <p:cNvSpPr/>
          <p:nvPr/>
        </p:nvSpPr>
        <p:spPr>
          <a:xfrm>
            <a:off x="6537960" y="2560320"/>
            <a:ext cx="4617720" cy="182880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The clinical record</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Prescriptions and consultation notes</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Patient history</a:t>
            </a:r>
            <a:endParaRPr lang="en-US" sz="1400" dirty="0"/>
          </a:p>
          <a:p>
            <a:pPr marL="342900" indent="-342900">
              <a:spcAft>
                <a:spcPts val="800"/>
              </a:spcAft>
              <a:buSzPct val="100000"/>
              <a:buChar char="•"/>
            </a:pPr>
            <a:r>
              <a:rPr lang="en-US" sz="1400" dirty="0">
                <a:solidFill>
                  <a:srgbClr val="403B33"/>
                </a:solidFill>
                <a:latin typeface="Calibri" pitchFamily="34" charset="0"/>
                <a:ea typeface="Calibri" pitchFamily="34" charset="-122"/>
                <a:cs typeface="Calibri" pitchFamily="34" charset="-120"/>
              </a:rPr>
              <a:t>What the doctors already use every day</a:t>
            </a:r>
            <a:endParaRPr lang="en-US" sz="1400" dirty="0"/>
          </a:p>
        </p:txBody>
      </p:sp>
      <p:sp>
        <p:nvSpPr>
          <p:cNvPr id="10" name="Shape 8"/>
          <p:cNvSpPr/>
          <p:nvPr/>
        </p:nvSpPr>
        <p:spPr>
          <a:xfrm>
            <a:off x="685800" y="4846320"/>
            <a:ext cx="10789920" cy="1188720"/>
          </a:xfrm>
          <a:prstGeom prst="roundRect">
            <a:avLst>
              <a:gd name="adj" fmla="val 6154"/>
            </a:avLst>
          </a:prstGeom>
          <a:solidFill>
            <a:srgbClr val="052B26"/>
          </a:solidFill>
          <a:ln w="12700">
            <a:solidFill>
              <a:srgbClr val="052B26"/>
            </a:solidFill>
            <a:prstDash val="solid"/>
          </a:ln>
        </p:spPr>
      </p:sp>
      <p:sp>
        <p:nvSpPr>
          <p:cNvPr id="11" name="Text 9"/>
          <p:cNvSpPr/>
          <p:nvPr/>
        </p:nvSpPr>
        <p:spPr>
          <a:xfrm>
            <a:off x="1143000" y="5029200"/>
            <a:ext cx="9875520" cy="822960"/>
          </a:xfrm>
          <a:prstGeom prst="rect">
            <a:avLst/>
          </a:prstGeom>
          <a:noFill/>
          <a:ln/>
        </p:spPr>
        <p:txBody>
          <a:bodyPr wrap="square" lIns="0" tIns="0" rIns="0" bIns="0" rtlCol="0" anchor="ctr"/>
          <a:lstStyle/>
          <a:p>
            <a:pPr algn="ctr" indent="0" marL="0">
              <a:lnSpc>
                <a:spcPts val="2400"/>
              </a:lnSpc>
              <a:buNone/>
            </a:pPr>
            <a:r>
              <a:rPr lang="en-US" sz="1600" i="1" dirty="0">
                <a:solidFill>
                  <a:srgbClr val="FFFFFF"/>
                </a:solidFill>
                <a:latin typeface="Cambria" pitchFamily="34" charset="0"/>
                <a:ea typeface="Cambria" pitchFamily="34" charset="-122"/>
                <a:cs typeface="Cambria" pitchFamily="34" charset="-120"/>
              </a:rPr>
              <a:t>There is deliberately no second place to write a prescription. Two records that can disagree about one patient is a real danger, and avoiding it was worth more than the convenience.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WHERE IT STANDS</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What is finished and what is not</a:t>
            </a:r>
            <a:endParaRPr lang="en-US" sz="3400" dirty="0"/>
          </a:p>
        </p:txBody>
      </p:sp>
      <p:sp>
        <p:nvSpPr>
          <p:cNvPr id="4" name="Shape 2"/>
          <p:cNvSpPr/>
          <p:nvPr/>
        </p:nvSpPr>
        <p:spPr>
          <a:xfrm>
            <a:off x="685800" y="1737360"/>
            <a:ext cx="5257800" cy="3566160"/>
          </a:xfrm>
          <a:prstGeom prst="roundRect">
            <a:avLst>
              <a:gd name="adj" fmla="val 2051"/>
            </a:avLst>
          </a:prstGeom>
          <a:solidFill>
            <a:srgbClr val="EEF6F4"/>
          </a:solidFill>
          <a:ln w="12700">
            <a:solidFill>
              <a:srgbClr val="E7E3D9"/>
            </a:solidFill>
            <a:prstDash val="solid"/>
          </a:ln>
        </p:spPr>
      </p:sp>
      <p:sp>
        <p:nvSpPr>
          <p:cNvPr id="5" name="Text 3"/>
          <p:cNvSpPr/>
          <p:nvPr/>
        </p:nvSpPr>
        <p:spPr>
          <a:xfrm>
            <a:off x="1005840" y="1965960"/>
            <a:ext cx="4617720" cy="411480"/>
          </a:xfrm>
          <a:prstGeom prst="rect">
            <a:avLst/>
          </a:prstGeom>
          <a:noFill/>
          <a:ln/>
        </p:spPr>
        <p:txBody>
          <a:bodyPr wrap="square" lIns="0" tIns="0" rIns="0" bIns="0" rtlCol="0" anchor="ctr"/>
          <a:lstStyle/>
          <a:p>
            <a:pPr indent="0" marL="0">
              <a:buNone/>
            </a:pPr>
            <a:r>
              <a:rPr lang="en-US" sz="2200" b="1" dirty="0">
                <a:solidFill>
                  <a:srgbClr val="0E6A5C"/>
                </a:solidFill>
                <a:latin typeface="Cambria" pitchFamily="34" charset="0"/>
                <a:ea typeface="Cambria" pitchFamily="34" charset="-122"/>
                <a:cs typeface="Cambria" pitchFamily="34" charset="-120"/>
              </a:rPr>
              <a:t>Built and tested</a:t>
            </a:r>
            <a:endParaRPr lang="en-US" sz="2200" dirty="0"/>
          </a:p>
        </p:txBody>
      </p:sp>
      <p:sp>
        <p:nvSpPr>
          <p:cNvPr id="6" name="Text 4"/>
          <p:cNvSpPr/>
          <p:nvPr/>
        </p:nvSpPr>
        <p:spPr>
          <a:xfrm>
            <a:off x="1005840" y="2514600"/>
            <a:ext cx="4617720" cy="26517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Patient booking, three languages</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The reception desk</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Written confirmation to patients</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The worklist for Klinique</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A printed manual for the staff</a:t>
            </a:r>
            <a:endParaRPr lang="en-US" sz="1400" dirty="0"/>
          </a:p>
        </p:txBody>
      </p:sp>
      <p:sp>
        <p:nvSpPr>
          <p:cNvPr id="7" name="Shape 5"/>
          <p:cNvSpPr/>
          <p:nvPr/>
        </p:nvSpPr>
        <p:spPr>
          <a:xfrm>
            <a:off x="6217920" y="1737360"/>
            <a:ext cx="5257800" cy="3566160"/>
          </a:xfrm>
          <a:prstGeom prst="roundRect">
            <a:avLst>
              <a:gd name="adj" fmla="val 2051"/>
            </a:avLst>
          </a:prstGeom>
          <a:solidFill>
            <a:srgbClr val="FDF6E7"/>
          </a:solidFill>
          <a:ln w="12700">
            <a:solidFill>
              <a:srgbClr val="E7E3D9"/>
            </a:solidFill>
            <a:prstDash val="solid"/>
          </a:ln>
        </p:spPr>
      </p:sp>
      <p:sp>
        <p:nvSpPr>
          <p:cNvPr id="8" name="Text 6"/>
          <p:cNvSpPr/>
          <p:nvPr/>
        </p:nvSpPr>
        <p:spPr>
          <a:xfrm>
            <a:off x="6537960" y="1965960"/>
            <a:ext cx="4617720" cy="411480"/>
          </a:xfrm>
          <a:prstGeom prst="rect">
            <a:avLst/>
          </a:prstGeom>
          <a:noFill/>
          <a:ln/>
        </p:spPr>
        <p:txBody>
          <a:bodyPr wrap="square" lIns="0" tIns="0" rIns="0" bIns="0" rtlCol="0" anchor="ctr"/>
          <a:lstStyle/>
          <a:p>
            <a:pPr indent="0" marL="0">
              <a:buNone/>
            </a:pPr>
            <a:r>
              <a:rPr lang="en-US" sz="2200" b="1" dirty="0">
                <a:solidFill>
                  <a:srgbClr val="8A5A12"/>
                </a:solidFill>
                <a:latin typeface="Cambria" pitchFamily="34" charset="0"/>
                <a:ea typeface="Cambria" pitchFamily="34" charset="-122"/>
                <a:cs typeface="Cambria" pitchFamily="34" charset="-120"/>
              </a:rPr>
              <a:t>Still needed</a:t>
            </a:r>
            <a:endParaRPr lang="en-US" sz="2200" dirty="0"/>
          </a:p>
        </p:txBody>
      </p:sp>
      <p:sp>
        <p:nvSpPr>
          <p:cNvPr id="9" name="Text 7"/>
          <p:cNvSpPr/>
          <p:nvPr/>
        </p:nvSpPr>
        <p:spPr>
          <a:xfrm>
            <a:off x="6537960" y="2514600"/>
            <a:ext cx="4617720" cy="2651760"/>
          </a:xfrm>
          <a:prstGeom prst="rect">
            <a:avLst/>
          </a:prstGeom>
          <a:noFill/>
          <a:ln/>
        </p:spPr>
        <p:txBody>
          <a:bodyPr wrap="square" lIns="0" tIns="0" rIns="0" bIns="0" rtlCol="0" anchor="ctr"/>
          <a:lstStyle/>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A domain and hosting in India</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Registration numbers for all 18 doctors</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Hours and fees confirmed by the hospital</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Automatic transfer into Klinique</a:t>
            </a:r>
            <a:endParaRPr lang="en-US" sz="1400" dirty="0"/>
          </a:p>
          <a:p>
            <a:pPr marL="342900" indent="-342900">
              <a:spcAft>
                <a:spcPts val="900"/>
              </a:spcAft>
              <a:buSzPct val="100000"/>
              <a:buChar char="•"/>
            </a:pPr>
            <a:r>
              <a:rPr lang="en-US" sz="1400" dirty="0">
                <a:solidFill>
                  <a:srgbClr val="403B33"/>
                </a:solidFill>
                <a:latin typeface="Calibri" pitchFamily="34" charset="0"/>
                <a:ea typeface="Calibri" pitchFamily="34" charset="-122"/>
                <a:cs typeface="Calibri" pitchFamily="34" charset="-120"/>
              </a:rPr>
              <a:t>Automatic SMS (needs DLT paperwork)</a:t>
            </a:r>
            <a:endParaRPr lang="en-US" sz="1400" dirty="0"/>
          </a:p>
        </p:txBody>
      </p:sp>
      <p:sp>
        <p:nvSpPr>
          <p:cNvPr id="10" name="Text 8"/>
          <p:cNvSpPr/>
          <p:nvPr/>
        </p:nvSpPr>
        <p:spPr>
          <a:xfrm>
            <a:off x="685800" y="5577840"/>
            <a:ext cx="10789920" cy="411480"/>
          </a:xfrm>
          <a:prstGeom prst="rect">
            <a:avLst/>
          </a:prstGeom>
          <a:noFill/>
          <a:ln/>
        </p:spPr>
        <p:txBody>
          <a:bodyPr wrap="square" lIns="0" tIns="0" rIns="0" bIns="0" rtlCol="0" anchor="ctr"/>
          <a:lstStyle/>
          <a:p>
            <a:pPr indent="0" marL="0">
              <a:buNone/>
            </a:pPr>
            <a:r>
              <a:rPr lang="en-US" sz="1400" i="1" dirty="0">
                <a:solidFill>
                  <a:srgbClr val="706B5E"/>
                </a:solidFill>
                <a:latin typeface="Calibri" pitchFamily="34" charset="0"/>
                <a:ea typeface="Calibri" pitchFamily="34" charset="-122"/>
                <a:cs typeface="Calibri" pitchFamily="34" charset="-120"/>
              </a:rPr>
              <a:t>212 automated tests run on every change, so a fix in one place cannot quietly break another.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85800" y="384048"/>
            <a:ext cx="10789920" cy="237744"/>
          </a:xfrm>
          <a:prstGeom prst="rect">
            <a:avLst/>
          </a:prstGeom>
          <a:noFill/>
          <a:ln/>
        </p:spPr>
        <p:txBody>
          <a:bodyPr wrap="square" lIns="0" tIns="0" rIns="0" bIns="0" rtlCol="0" anchor="ctr"/>
          <a:lstStyle/>
          <a:p>
            <a:pPr indent="0" marL="0">
              <a:buNone/>
            </a:pPr>
            <a:r>
              <a:rPr lang="en-US" sz="1100" b="1" spc="200" kern="0" dirty="0">
                <a:solidFill>
                  <a:srgbClr val="0E6A5C"/>
                </a:solidFill>
                <a:latin typeface="Calibri" pitchFamily="34" charset="0"/>
                <a:ea typeface="Calibri" pitchFamily="34" charset="-122"/>
                <a:cs typeface="Calibri" pitchFamily="34" charset="-120"/>
              </a:rPr>
              <a:t>WHAT HAPPENS NEXT</a:t>
            </a:r>
            <a:endParaRPr lang="en-US" sz="1100" dirty="0"/>
          </a:p>
        </p:txBody>
      </p:sp>
      <p:sp>
        <p:nvSpPr>
          <p:cNvPr id="3" name="Text 1"/>
          <p:cNvSpPr/>
          <p:nvPr/>
        </p:nvSpPr>
        <p:spPr>
          <a:xfrm>
            <a:off x="685800" y="658368"/>
            <a:ext cx="10789920" cy="777240"/>
          </a:xfrm>
          <a:prstGeom prst="rect">
            <a:avLst/>
          </a:prstGeom>
          <a:noFill/>
          <a:ln/>
        </p:spPr>
        <p:txBody>
          <a:bodyPr wrap="square" lIns="0" tIns="0" rIns="0" bIns="0" rtlCol="0" anchor="ctr"/>
          <a:lstStyle/>
          <a:p>
            <a:pPr indent="0" marL="0">
              <a:buNone/>
            </a:pPr>
            <a:r>
              <a:rPr lang="en-US" sz="3400" b="1" dirty="0">
                <a:solidFill>
                  <a:srgbClr val="16130F"/>
                </a:solidFill>
                <a:latin typeface="Cambria" pitchFamily="34" charset="0"/>
                <a:ea typeface="Cambria" pitchFamily="34" charset="-122"/>
                <a:cs typeface="Cambria" pitchFamily="34" charset="-120"/>
              </a:rPr>
              <a:t>Two steps to being live</a:t>
            </a:r>
            <a:endParaRPr lang="en-US" sz="3400" dirty="0"/>
          </a:p>
        </p:txBody>
      </p:sp>
      <p:sp>
        <p:nvSpPr>
          <p:cNvPr id="4" name="Shape 2"/>
          <p:cNvSpPr/>
          <p:nvPr/>
        </p:nvSpPr>
        <p:spPr>
          <a:xfrm>
            <a:off x="685800" y="1737360"/>
            <a:ext cx="10789920" cy="1874520"/>
          </a:xfrm>
          <a:prstGeom prst="roundRect">
            <a:avLst>
              <a:gd name="adj" fmla="val 3902"/>
            </a:avLst>
          </a:prstGeom>
          <a:solidFill>
            <a:srgbClr val="FFFFFF"/>
          </a:solidFill>
          <a:ln w="12700">
            <a:solidFill>
              <a:srgbClr val="E7E3D9"/>
            </a:solidFill>
            <a:prstDash val="solid"/>
          </a:ln>
        </p:spPr>
      </p:sp>
      <p:sp>
        <p:nvSpPr>
          <p:cNvPr id="5" name="Shape 3"/>
          <p:cNvSpPr/>
          <p:nvPr/>
        </p:nvSpPr>
        <p:spPr>
          <a:xfrm>
            <a:off x="1051560" y="2084832"/>
            <a:ext cx="621792" cy="621792"/>
          </a:xfrm>
          <a:prstGeom prst="ellipse">
            <a:avLst/>
          </a:prstGeom>
          <a:solidFill>
            <a:srgbClr val="0E6A5C"/>
          </a:solidFill>
          <a:ln/>
        </p:spPr>
      </p:sp>
      <p:sp>
        <p:nvSpPr>
          <p:cNvPr id="6" name="Text 4"/>
          <p:cNvSpPr/>
          <p:nvPr/>
        </p:nvSpPr>
        <p:spPr>
          <a:xfrm>
            <a:off x="1051560" y="208483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920240" y="2011680"/>
            <a:ext cx="3657600" cy="411480"/>
          </a:xfrm>
          <a:prstGeom prst="rect">
            <a:avLst/>
          </a:prstGeom>
          <a:noFill/>
          <a:ln/>
        </p:spPr>
        <p:txBody>
          <a:bodyPr wrap="square" lIns="0" tIns="0" rIns="0" bIns="0"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Go live</a:t>
            </a:r>
            <a:endParaRPr lang="en-US" sz="2400" dirty="0"/>
          </a:p>
        </p:txBody>
      </p:sp>
      <p:sp>
        <p:nvSpPr>
          <p:cNvPr id="8" name="Text 6"/>
          <p:cNvSpPr/>
          <p:nvPr/>
        </p:nvSpPr>
        <p:spPr>
          <a:xfrm>
            <a:off x="1920240" y="2487168"/>
            <a:ext cx="3657600" cy="320040"/>
          </a:xfrm>
          <a:prstGeom prst="rect">
            <a:avLst/>
          </a:prstGeom>
          <a:noFill/>
          <a:ln/>
        </p:spPr>
        <p:txBody>
          <a:bodyPr wrap="square" lIns="0" tIns="0" rIns="0" bIns="0" rtlCol="0" anchor="ctr"/>
          <a:lstStyle/>
          <a:p>
            <a:pPr indent="0" marL="0">
              <a:buNone/>
            </a:pPr>
            <a:r>
              <a:rPr lang="en-US" sz="1300" b="1" dirty="0">
                <a:solidFill>
                  <a:srgbClr val="0E6A5C"/>
                </a:solidFill>
                <a:latin typeface="Calibri" pitchFamily="34" charset="0"/>
                <a:ea typeface="Calibri" pitchFamily="34" charset="-122"/>
                <a:cs typeface="Calibri" pitchFamily="34" charset="-120"/>
              </a:rPr>
              <a:t>Four to six weeks</a:t>
            </a:r>
            <a:endParaRPr lang="en-US" sz="1300" dirty="0"/>
          </a:p>
        </p:txBody>
      </p:sp>
      <p:sp>
        <p:nvSpPr>
          <p:cNvPr id="9" name="Text 7"/>
          <p:cNvSpPr/>
          <p:nvPr/>
        </p:nvSpPr>
        <p:spPr>
          <a:xfrm>
            <a:off x="5715000" y="2011680"/>
            <a:ext cx="5394960" cy="137160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A domain and a server in India, the registration numbers entered, hours and fees confirmed, and reception trained on the manual. Start with two or three departments rather than all 21 — reception learns on a small volume and the rest open by ticking a box.</a:t>
            </a:r>
            <a:endParaRPr lang="en-US" sz="1300" dirty="0"/>
          </a:p>
        </p:txBody>
      </p:sp>
      <p:sp>
        <p:nvSpPr>
          <p:cNvPr id="10" name="Shape 8"/>
          <p:cNvSpPr/>
          <p:nvPr/>
        </p:nvSpPr>
        <p:spPr>
          <a:xfrm>
            <a:off x="685800" y="3886200"/>
            <a:ext cx="10789920" cy="1874520"/>
          </a:xfrm>
          <a:prstGeom prst="roundRect">
            <a:avLst>
              <a:gd name="adj" fmla="val 3902"/>
            </a:avLst>
          </a:prstGeom>
          <a:solidFill>
            <a:srgbClr val="FFFFFF"/>
          </a:solidFill>
          <a:ln w="12700">
            <a:solidFill>
              <a:srgbClr val="E7E3D9"/>
            </a:solidFill>
            <a:prstDash val="solid"/>
          </a:ln>
        </p:spPr>
      </p:sp>
      <p:sp>
        <p:nvSpPr>
          <p:cNvPr id="11" name="Shape 9"/>
          <p:cNvSpPr/>
          <p:nvPr/>
        </p:nvSpPr>
        <p:spPr>
          <a:xfrm>
            <a:off x="1051560" y="4233672"/>
            <a:ext cx="621792" cy="621792"/>
          </a:xfrm>
          <a:prstGeom prst="ellipse">
            <a:avLst/>
          </a:prstGeom>
          <a:solidFill>
            <a:srgbClr val="0E6A5C"/>
          </a:solidFill>
          <a:ln/>
        </p:spPr>
      </p:sp>
      <p:sp>
        <p:nvSpPr>
          <p:cNvPr id="12" name="Text 10"/>
          <p:cNvSpPr/>
          <p:nvPr/>
        </p:nvSpPr>
        <p:spPr>
          <a:xfrm>
            <a:off x="1051560" y="4233672"/>
            <a:ext cx="621792"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920240" y="4160520"/>
            <a:ext cx="3657600" cy="411480"/>
          </a:xfrm>
          <a:prstGeom prst="rect">
            <a:avLst/>
          </a:prstGeom>
          <a:noFill/>
          <a:ln/>
        </p:spPr>
        <p:txBody>
          <a:bodyPr wrap="square" lIns="0" tIns="0" rIns="0" bIns="0"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Remove the typing</a:t>
            </a:r>
            <a:endParaRPr lang="en-US" sz="2400" dirty="0"/>
          </a:p>
        </p:txBody>
      </p:sp>
      <p:sp>
        <p:nvSpPr>
          <p:cNvPr id="14" name="Text 12"/>
          <p:cNvSpPr/>
          <p:nvPr/>
        </p:nvSpPr>
        <p:spPr>
          <a:xfrm>
            <a:off x="1920240" y="4636008"/>
            <a:ext cx="3657600" cy="320040"/>
          </a:xfrm>
          <a:prstGeom prst="rect">
            <a:avLst/>
          </a:prstGeom>
          <a:noFill/>
          <a:ln/>
        </p:spPr>
        <p:txBody>
          <a:bodyPr wrap="square" lIns="0" tIns="0" rIns="0" bIns="0" rtlCol="0" anchor="ctr"/>
          <a:lstStyle/>
          <a:p>
            <a:pPr indent="0" marL="0">
              <a:buNone/>
            </a:pPr>
            <a:r>
              <a:rPr lang="en-US" sz="1300" b="1" dirty="0">
                <a:solidFill>
                  <a:srgbClr val="0E6A5C"/>
                </a:solidFill>
                <a:latin typeface="Calibri" pitchFamily="34" charset="0"/>
                <a:ea typeface="Calibri" pitchFamily="34" charset="-122"/>
                <a:cs typeface="Calibri" pitchFamily="34" charset="-120"/>
              </a:rPr>
              <a:t>After Klinique replies</a:t>
            </a:r>
            <a:endParaRPr lang="en-US" sz="1300" dirty="0"/>
          </a:p>
        </p:txBody>
      </p:sp>
      <p:sp>
        <p:nvSpPr>
          <p:cNvPr id="15" name="Text 13"/>
          <p:cNvSpPr/>
          <p:nvPr/>
        </p:nvSpPr>
        <p:spPr>
          <a:xfrm>
            <a:off x="5715000" y="4160520"/>
            <a:ext cx="5394960" cy="1371600"/>
          </a:xfrm>
          <a:prstGeom prst="rect">
            <a:avLst/>
          </a:prstGeom>
          <a:noFill/>
          <a:ln/>
        </p:spPr>
        <p:txBody>
          <a:bodyPr wrap="square" lIns="0" tIns="0" rIns="0" bIns="0" rtlCol="0" anchor="ctr"/>
          <a:lstStyle/>
          <a:p>
            <a:pPr indent="0" marL="0">
              <a:lnSpc>
                <a:spcPts val="2000"/>
              </a:lnSpc>
              <a:buNone/>
            </a:pPr>
            <a:r>
              <a:rPr lang="en-US" sz="1300" dirty="0">
                <a:solidFill>
                  <a:srgbClr val="403B33"/>
                </a:solidFill>
                <a:latin typeface="Calibri" pitchFamily="34" charset="0"/>
                <a:ea typeface="Calibri" pitchFamily="34" charset="-122"/>
                <a:cs typeface="Calibri" pitchFamily="34" charset="-120"/>
              </a:rPr>
              <a:t>Bookings pass into Klinique by themselves instead of being copied across by hand. It needs either an access key from Klinique or one booking captured from their own form. Quoted separately, because it depends on what they will give us.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52B26"/>
        </a:solidFill>
      </p:bgPr>
    </p:bg>
    <p:spTree>
      <p:nvGrpSpPr>
        <p:cNvPr id="1" name=""/>
        <p:cNvGrpSpPr/>
        <p:nvPr/>
      </p:nvGrpSpPr>
      <p:grpSpPr>
        <a:xfrm>
          <a:off x="0" y="0"/>
          <a:ext cx="0" cy="0"/>
          <a:chOff x="0" y="0"/>
          <a:chExt cx="0" cy="0"/>
        </a:xfrm>
      </p:grpSpPr>
      <p:sp>
        <p:nvSpPr>
          <p:cNvPr id="2" name="Text 0"/>
          <p:cNvSpPr/>
          <p:nvPr/>
        </p:nvSpPr>
        <p:spPr>
          <a:xfrm>
            <a:off x="685800" y="1737360"/>
            <a:ext cx="6766560" cy="1737360"/>
          </a:xfrm>
          <a:prstGeom prst="rect">
            <a:avLst/>
          </a:prstGeom>
          <a:noFill/>
          <a:ln/>
        </p:spPr>
        <p:txBody>
          <a:bodyPr wrap="square" lIns="0" tIns="0" rIns="0" bIns="0"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It is built.</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It is not live yet.</a:t>
            </a:r>
            <a:endParaRPr lang="en-US" sz="4400" dirty="0"/>
          </a:p>
        </p:txBody>
      </p:sp>
      <p:sp>
        <p:nvSpPr>
          <p:cNvPr id="3" name="Text 1"/>
          <p:cNvSpPr/>
          <p:nvPr/>
        </p:nvSpPr>
        <p:spPr>
          <a:xfrm>
            <a:off x="685800" y="3657600"/>
            <a:ext cx="6766560" cy="1280160"/>
          </a:xfrm>
          <a:prstGeom prst="rect">
            <a:avLst/>
          </a:prstGeom>
          <a:noFill/>
          <a:ln/>
        </p:spPr>
        <p:txBody>
          <a:bodyPr wrap="square" lIns="0" tIns="0" rIns="0" bIns="0" rtlCol="0" anchor="ctr"/>
          <a:lstStyle/>
          <a:p>
            <a:pPr indent="0" marL="0">
              <a:lnSpc>
                <a:spcPts val="2600"/>
              </a:lnSpc>
              <a:buNone/>
            </a:pPr>
            <a:r>
              <a:rPr lang="en-US" sz="1600" dirty="0">
                <a:solidFill>
                  <a:srgbClr val="72B7AB"/>
                </a:solidFill>
                <a:latin typeface="Calibri" pitchFamily="34" charset="0"/>
                <a:ea typeface="Calibri" pitchFamily="34" charset="-122"/>
                <a:cs typeface="Calibri" pitchFamily="34" charset="-120"/>
              </a:rPr>
              <a:t>Everything a patient and the reception desk need is finished and tested. What is left is a domain, a server in India, and the hospital confirming its own details.</a:t>
            </a:r>
            <a:endParaRPr lang="en-US" sz="1600" dirty="0"/>
          </a:p>
        </p:txBody>
      </p:sp>
      <p:sp>
        <p:nvSpPr>
          <p:cNvPr id="4" name="Text 2"/>
          <p:cNvSpPr/>
          <p:nvPr/>
        </p:nvSpPr>
        <p:spPr>
          <a:xfrm>
            <a:off x="8321040" y="1783080"/>
            <a:ext cx="1463040" cy="594360"/>
          </a:xfrm>
          <a:prstGeom prst="rect">
            <a:avLst/>
          </a:prstGeom>
          <a:noFill/>
          <a:ln/>
        </p:spPr>
        <p:txBody>
          <a:bodyPr wrap="square" lIns="0" tIns="0" rIns="0" bIns="0" rtlCol="0" anchor="ctr"/>
          <a:lstStyle/>
          <a:p>
            <a:pPr algn="r" indent="0" marL="0">
              <a:buNone/>
            </a:pPr>
            <a:r>
              <a:rPr lang="en-US" sz="3400" b="1" dirty="0">
                <a:solidFill>
                  <a:srgbClr val="A6CE39"/>
                </a:solidFill>
                <a:latin typeface="Cambria" pitchFamily="34" charset="0"/>
                <a:ea typeface="Cambria" pitchFamily="34" charset="-122"/>
                <a:cs typeface="Cambria" pitchFamily="34" charset="-120"/>
              </a:rPr>
              <a:t>18</a:t>
            </a:r>
            <a:endParaRPr lang="en-US" sz="3400" dirty="0"/>
          </a:p>
        </p:txBody>
      </p:sp>
      <p:sp>
        <p:nvSpPr>
          <p:cNvPr id="5" name="Text 3"/>
          <p:cNvSpPr/>
          <p:nvPr/>
        </p:nvSpPr>
        <p:spPr>
          <a:xfrm>
            <a:off x="9921240" y="1947672"/>
            <a:ext cx="2011680" cy="548640"/>
          </a:xfrm>
          <a:prstGeom prst="rect">
            <a:avLst/>
          </a:prstGeom>
          <a:noFill/>
          <a:ln/>
        </p:spPr>
        <p:txBody>
          <a:bodyPr wrap="square" lIns="0" tIns="0" rIns="0" bIns="0" rtlCol="0" anchor="ctr"/>
          <a:lstStyle/>
          <a:p>
            <a:pPr indent="0" marL="0">
              <a:buNone/>
            </a:pPr>
            <a:r>
              <a:rPr lang="en-US" sz="1300" dirty="0">
                <a:solidFill>
                  <a:srgbClr val="72B7AB"/>
                </a:solidFill>
                <a:latin typeface="Calibri" pitchFamily="34" charset="0"/>
                <a:ea typeface="Calibri" pitchFamily="34" charset="-122"/>
                <a:cs typeface="Calibri" pitchFamily="34" charset="-120"/>
              </a:rPr>
              <a:t>consultants listed</a:t>
            </a:r>
            <a:endParaRPr lang="en-US" sz="1300" dirty="0"/>
          </a:p>
        </p:txBody>
      </p:sp>
      <p:sp>
        <p:nvSpPr>
          <p:cNvPr id="6" name="Text 4"/>
          <p:cNvSpPr/>
          <p:nvPr/>
        </p:nvSpPr>
        <p:spPr>
          <a:xfrm>
            <a:off x="8321040" y="2834640"/>
            <a:ext cx="1463040" cy="594360"/>
          </a:xfrm>
          <a:prstGeom prst="rect">
            <a:avLst/>
          </a:prstGeom>
          <a:noFill/>
          <a:ln/>
        </p:spPr>
        <p:txBody>
          <a:bodyPr wrap="square" lIns="0" tIns="0" rIns="0" bIns="0" rtlCol="0" anchor="ctr"/>
          <a:lstStyle/>
          <a:p>
            <a:pPr algn="r" indent="0" marL="0">
              <a:buNone/>
            </a:pPr>
            <a:r>
              <a:rPr lang="en-US" sz="3400" b="1" dirty="0">
                <a:solidFill>
                  <a:srgbClr val="A6CE39"/>
                </a:solidFill>
                <a:latin typeface="Cambria" pitchFamily="34" charset="0"/>
                <a:ea typeface="Cambria" pitchFamily="34" charset="-122"/>
                <a:cs typeface="Cambria" pitchFamily="34" charset="-120"/>
              </a:rPr>
              <a:t>21</a:t>
            </a:r>
            <a:endParaRPr lang="en-US" sz="3400" dirty="0"/>
          </a:p>
        </p:txBody>
      </p:sp>
      <p:sp>
        <p:nvSpPr>
          <p:cNvPr id="7" name="Text 5"/>
          <p:cNvSpPr/>
          <p:nvPr/>
        </p:nvSpPr>
        <p:spPr>
          <a:xfrm>
            <a:off x="9921240" y="2999232"/>
            <a:ext cx="2011680" cy="548640"/>
          </a:xfrm>
          <a:prstGeom prst="rect">
            <a:avLst/>
          </a:prstGeom>
          <a:noFill/>
          <a:ln/>
        </p:spPr>
        <p:txBody>
          <a:bodyPr wrap="square" lIns="0" tIns="0" rIns="0" bIns="0" rtlCol="0" anchor="ctr"/>
          <a:lstStyle/>
          <a:p>
            <a:pPr indent="0" marL="0">
              <a:buNone/>
            </a:pPr>
            <a:r>
              <a:rPr lang="en-US" sz="1300" dirty="0">
                <a:solidFill>
                  <a:srgbClr val="72B7AB"/>
                </a:solidFill>
                <a:latin typeface="Calibri" pitchFamily="34" charset="0"/>
                <a:ea typeface="Calibri" pitchFamily="34" charset="-122"/>
                <a:cs typeface="Calibri" pitchFamily="34" charset="-120"/>
              </a:rPr>
              <a:t>departments</a:t>
            </a:r>
            <a:endParaRPr lang="en-US" sz="1300" dirty="0"/>
          </a:p>
        </p:txBody>
      </p:sp>
      <p:sp>
        <p:nvSpPr>
          <p:cNvPr id="8" name="Text 6"/>
          <p:cNvSpPr/>
          <p:nvPr/>
        </p:nvSpPr>
        <p:spPr>
          <a:xfrm>
            <a:off x="8321040" y="3886200"/>
            <a:ext cx="1463040" cy="594360"/>
          </a:xfrm>
          <a:prstGeom prst="rect">
            <a:avLst/>
          </a:prstGeom>
          <a:noFill/>
          <a:ln/>
        </p:spPr>
        <p:txBody>
          <a:bodyPr wrap="square" lIns="0" tIns="0" rIns="0" bIns="0" rtlCol="0" anchor="ctr"/>
          <a:lstStyle/>
          <a:p>
            <a:pPr algn="r" indent="0" marL="0">
              <a:buNone/>
            </a:pPr>
            <a:r>
              <a:rPr lang="en-US" sz="3400" b="1" dirty="0">
                <a:solidFill>
                  <a:srgbClr val="A6CE39"/>
                </a:solidFill>
                <a:latin typeface="Cambria" pitchFamily="34" charset="0"/>
                <a:ea typeface="Cambria" pitchFamily="34" charset="-122"/>
                <a:cs typeface="Cambria" pitchFamily="34" charset="-120"/>
              </a:rPr>
              <a:t>3</a:t>
            </a:r>
            <a:endParaRPr lang="en-US" sz="3400" dirty="0"/>
          </a:p>
        </p:txBody>
      </p:sp>
      <p:sp>
        <p:nvSpPr>
          <p:cNvPr id="9" name="Text 7"/>
          <p:cNvSpPr/>
          <p:nvPr/>
        </p:nvSpPr>
        <p:spPr>
          <a:xfrm>
            <a:off x="9921240" y="4050792"/>
            <a:ext cx="2011680" cy="548640"/>
          </a:xfrm>
          <a:prstGeom prst="rect">
            <a:avLst/>
          </a:prstGeom>
          <a:noFill/>
          <a:ln/>
        </p:spPr>
        <p:txBody>
          <a:bodyPr wrap="square" lIns="0" tIns="0" rIns="0" bIns="0" rtlCol="0" anchor="ctr"/>
          <a:lstStyle/>
          <a:p>
            <a:pPr indent="0" marL="0">
              <a:buNone/>
            </a:pPr>
            <a:r>
              <a:rPr lang="en-US" sz="1300" dirty="0">
                <a:solidFill>
                  <a:srgbClr val="72B7AB"/>
                </a:solidFill>
                <a:latin typeface="Calibri" pitchFamily="34" charset="0"/>
                <a:ea typeface="Calibri" pitchFamily="34" charset="-122"/>
                <a:cs typeface="Calibri" pitchFamily="34" charset="-120"/>
              </a:rPr>
              <a:t>languages on every screen</a:t>
            </a:r>
            <a:endParaRPr lang="en-US" sz="1300" dirty="0"/>
          </a:p>
        </p:txBody>
      </p:sp>
      <p:sp>
        <p:nvSpPr>
          <p:cNvPr id="10" name="Text 8"/>
          <p:cNvSpPr/>
          <p:nvPr/>
        </p:nvSpPr>
        <p:spPr>
          <a:xfrm>
            <a:off x="8321040" y="4937760"/>
            <a:ext cx="1463040" cy="594360"/>
          </a:xfrm>
          <a:prstGeom prst="rect">
            <a:avLst/>
          </a:prstGeom>
          <a:noFill/>
          <a:ln/>
        </p:spPr>
        <p:txBody>
          <a:bodyPr wrap="square" lIns="0" tIns="0" rIns="0" bIns="0" rtlCol="0" anchor="ctr"/>
          <a:lstStyle/>
          <a:p>
            <a:pPr algn="r" indent="0" marL="0">
              <a:buNone/>
            </a:pPr>
            <a:r>
              <a:rPr lang="en-US" sz="3400" b="1" dirty="0">
                <a:solidFill>
                  <a:srgbClr val="A6CE39"/>
                </a:solidFill>
                <a:latin typeface="Cambria" pitchFamily="34" charset="0"/>
                <a:ea typeface="Cambria" pitchFamily="34" charset="-122"/>
                <a:cs typeface="Cambria" pitchFamily="34" charset="-120"/>
              </a:rPr>
              <a:t>212</a:t>
            </a:r>
            <a:endParaRPr lang="en-US" sz="3400" dirty="0"/>
          </a:p>
        </p:txBody>
      </p:sp>
      <p:sp>
        <p:nvSpPr>
          <p:cNvPr id="11" name="Text 9"/>
          <p:cNvSpPr/>
          <p:nvPr/>
        </p:nvSpPr>
        <p:spPr>
          <a:xfrm>
            <a:off x="9921240" y="5102352"/>
            <a:ext cx="2011680" cy="548640"/>
          </a:xfrm>
          <a:prstGeom prst="rect">
            <a:avLst/>
          </a:prstGeom>
          <a:noFill/>
          <a:ln/>
        </p:spPr>
        <p:txBody>
          <a:bodyPr wrap="square" lIns="0" tIns="0" rIns="0" bIns="0" rtlCol="0" anchor="ctr"/>
          <a:lstStyle/>
          <a:p>
            <a:pPr indent="0" marL="0">
              <a:buNone/>
            </a:pPr>
            <a:r>
              <a:rPr lang="en-US" sz="1300" dirty="0">
                <a:solidFill>
                  <a:srgbClr val="72B7AB"/>
                </a:solidFill>
                <a:latin typeface="Calibri" pitchFamily="34" charset="0"/>
                <a:ea typeface="Calibri" pitchFamily="34" charset="-122"/>
                <a:cs typeface="Calibri" pitchFamily="34" charset="-120"/>
              </a:rPr>
              <a:t>automated tests passing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Deepan Hospital Online</dc:title>
  <dc:subject>PptxGenJS Presentation</dc:subject>
  <dc:creator>Deepan Hospital</dc:creator>
  <cp:lastModifiedBy>Deepan Hospital</cp:lastModifiedBy>
  <cp:revision>1</cp:revision>
  <dcterms:created xsi:type="dcterms:W3CDTF">2026-08-19T10:00:00Z</dcterms:created>
  <dcterms:modified xsi:type="dcterms:W3CDTF">2026-08-19T10:00:00Z</dcterms:modified>
</cp:coreProperties>
</file>